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5"/>
  </p:notesMasterIdLst>
  <p:sldIdLst>
    <p:sldId id="256" r:id="rId2"/>
    <p:sldId id="263" r:id="rId3"/>
    <p:sldId id="257" r:id="rId4"/>
    <p:sldId id="258" r:id="rId5"/>
    <p:sldId id="259" r:id="rId6"/>
    <p:sldId id="260" r:id="rId7"/>
    <p:sldId id="261" r:id="rId8"/>
    <p:sldId id="264" r:id="rId9"/>
    <p:sldId id="265" r:id="rId10"/>
    <p:sldId id="266" r:id="rId11"/>
    <p:sldId id="267" r:id="rId12"/>
    <p:sldId id="268" r:id="rId13"/>
    <p:sldId id="26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45" d="100"/>
          <a:sy n="45" d="100"/>
        </p:scale>
        <p:origin x="1025" y="4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8E2E1-8886-43B2-B986-F2B06DAA2FAC}" type="datetimeFigureOut">
              <a:rPr lang="en-IN" smtClean="0"/>
              <a:t>22-08-2026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9FDF3-42B5-4A41-B75E-186C389084C2}" type="slidenum">
              <a:rPr lang="en-IN" smtClean="0"/>
              <a:t>‹#›</a:t>
            </a:fld>
            <a:endParaRPr lang="en-IN"/>
          </a:p>
        </p:txBody>
      </p:sp>
    </p:spTree>
    <p:extLst>
      <p:ext uri="{BB962C8B-B14F-4D97-AF65-F5344CB8AC3E}">
        <p14:creationId xmlns:p14="http://schemas.microsoft.com/office/powerpoint/2010/main" val="1029858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92BF-19BE-9BF0-E2FC-07A36D054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3AB4F9-CBB3-B18D-E917-C3B0641867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0F18A0-E201-1900-A139-E830DD3EA1D1}"/>
              </a:ext>
            </a:extLst>
          </p:cNvPr>
          <p:cNvSpPr>
            <a:spLocks noGrp="1"/>
          </p:cNvSpPr>
          <p:nvPr>
            <p:ph type="dt" sz="half" idx="10"/>
          </p:nvPr>
        </p:nvSpPr>
        <p:spPr/>
        <p:txBody>
          <a:bodyPr/>
          <a:lstStyle/>
          <a:p>
            <a:fld id="{8F3E78AE-7F97-4550-9DD8-BF69171FDC30}" type="datetime1">
              <a:rPr lang="en-IN" smtClean="0"/>
              <a:t>22-08-2026</a:t>
            </a:fld>
            <a:endParaRPr lang="en-IN"/>
          </a:p>
        </p:txBody>
      </p:sp>
      <p:sp>
        <p:nvSpPr>
          <p:cNvPr id="5" name="Footer Placeholder 4">
            <a:extLst>
              <a:ext uri="{FF2B5EF4-FFF2-40B4-BE49-F238E27FC236}">
                <a16:creationId xmlns:a16="http://schemas.microsoft.com/office/drawing/2014/main" id="{ED0906B9-B1F6-B52E-2EE0-7595B1EBF0FF}"/>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7A13AE1-F96E-D540-8DE1-8D903DB30CE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765197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2F7EA-3EC9-99AF-13A9-22A3F8B2D2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71419B-73DB-15DA-D2EE-0FC01B435F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080259-8D20-E29B-4DC5-312C3DB01BB3}"/>
              </a:ext>
            </a:extLst>
          </p:cNvPr>
          <p:cNvSpPr>
            <a:spLocks noGrp="1"/>
          </p:cNvSpPr>
          <p:nvPr>
            <p:ph type="dt" sz="half" idx="10"/>
          </p:nvPr>
        </p:nvSpPr>
        <p:spPr/>
        <p:txBody>
          <a:bodyPr/>
          <a:lstStyle/>
          <a:p>
            <a:fld id="{FEA886FF-1BA7-4533-94E6-869CE1E2970B}" type="datetime1">
              <a:rPr lang="en-IN" smtClean="0"/>
              <a:t>22-08-2026</a:t>
            </a:fld>
            <a:endParaRPr lang="en-IN"/>
          </a:p>
        </p:txBody>
      </p:sp>
      <p:sp>
        <p:nvSpPr>
          <p:cNvPr id="5" name="Footer Placeholder 4">
            <a:extLst>
              <a:ext uri="{FF2B5EF4-FFF2-40B4-BE49-F238E27FC236}">
                <a16:creationId xmlns:a16="http://schemas.microsoft.com/office/drawing/2014/main" id="{E101830E-3502-194A-88FA-DC3E0F1B309A}"/>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CF6703C-229C-43C6-0484-38EC263AD4A9}"/>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693990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E344-6494-09A6-A5E4-811EEE0CD2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51A0E2-2B9B-B96E-A3FD-0B26BDDBEB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67CE67-8E8A-4D0D-42DF-DDC842B1B17A}"/>
              </a:ext>
            </a:extLst>
          </p:cNvPr>
          <p:cNvSpPr>
            <a:spLocks noGrp="1"/>
          </p:cNvSpPr>
          <p:nvPr>
            <p:ph type="dt" sz="half" idx="10"/>
          </p:nvPr>
        </p:nvSpPr>
        <p:spPr/>
        <p:txBody>
          <a:bodyPr/>
          <a:lstStyle/>
          <a:p>
            <a:fld id="{93E22BD8-A2C4-424B-809A-C64DDCC305D9}" type="datetime1">
              <a:rPr lang="en-IN" smtClean="0"/>
              <a:t>22-08-2026</a:t>
            </a:fld>
            <a:endParaRPr lang="en-IN"/>
          </a:p>
        </p:txBody>
      </p:sp>
      <p:sp>
        <p:nvSpPr>
          <p:cNvPr id="5" name="Footer Placeholder 4">
            <a:extLst>
              <a:ext uri="{FF2B5EF4-FFF2-40B4-BE49-F238E27FC236}">
                <a16:creationId xmlns:a16="http://schemas.microsoft.com/office/drawing/2014/main" id="{73A78C3E-C139-1FD1-979B-D71679959D2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932F297-889B-B694-6DD5-92F8A6AAFF7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95814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2C89C-FEA2-11F6-7988-ADD14A7B22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E5DE7B-A406-1142-36EA-1C14987402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355A2B-361E-86CB-ABBE-C510D2B221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0DA5E84-A1E0-A1C4-F7E6-DA9E7B124C77}"/>
              </a:ext>
            </a:extLst>
          </p:cNvPr>
          <p:cNvSpPr>
            <a:spLocks noGrp="1"/>
          </p:cNvSpPr>
          <p:nvPr>
            <p:ph type="dt" sz="half" idx="10"/>
          </p:nvPr>
        </p:nvSpPr>
        <p:spPr/>
        <p:txBody>
          <a:bodyPr/>
          <a:lstStyle/>
          <a:p>
            <a:fld id="{B620F4BC-B3A4-46AF-9AEC-8478EF1369D5}" type="datetime1">
              <a:rPr lang="en-IN" smtClean="0"/>
              <a:t>22-08-2026</a:t>
            </a:fld>
            <a:endParaRPr lang="en-IN"/>
          </a:p>
        </p:txBody>
      </p:sp>
      <p:sp>
        <p:nvSpPr>
          <p:cNvPr id="6" name="Footer Placeholder 5">
            <a:extLst>
              <a:ext uri="{FF2B5EF4-FFF2-40B4-BE49-F238E27FC236}">
                <a16:creationId xmlns:a16="http://schemas.microsoft.com/office/drawing/2014/main" id="{D5DDA460-54C8-F2AC-C053-53FF3FAFCCD5}"/>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E6F132A-BD40-58D2-CEEC-A1BA2B9E2EF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438223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823BE-2514-8722-ED45-41E13E46B6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BFEE3B-6ABA-1D24-97FE-717EBBC999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653C42-4C6D-988F-42A0-8639A508A6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B662B4-F942-A78F-394F-74F6037179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445FBE-A81E-92E1-36E3-99D1586F83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6D20C02-77C2-CB2A-62F8-60B8C62629ED}"/>
              </a:ext>
            </a:extLst>
          </p:cNvPr>
          <p:cNvSpPr>
            <a:spLocks noGrp="1"/>
          </p:cNvSpPr>
          <p:nvPr>
            <p:ph type="dt" sz="half" idx="10"/>
          </p:nvPr>
        </p:nvSpPr>
        <p:spPr/>
        <p:txBody>
          <a:bodyPr/>
          <a:lstStyle/>
          <a:p>
            <a:fld id="{4C9A2993-B405-4F4D-B968-A01C27211659}" type="datetime1">
              <a:rPr lang="en-IN" smtClean="0"/>
              <a:t>22-08-2026</a:t>
            </a:fld>
            <a:endParaRPr lang="en-IN"/>
          </a:p>
        </p:txBody>
      </p:sp>
      <p:sp>
        <p:nvSpPr>
          <p:cNvPr id="8" name="Footer Placeholder 7">
            <a:extLst>
              <a:ext uri="{FF2B5EF4-FFF2-40B4-BE49-F238E27FC236}">
                <a16:creationId xmlns:a16="http://schemas.microsoft.com/office/drawing/2014/main" id="{AD033241-EB08-777E-F678-5D641F6495A5}"/>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40D711ED-181F-C690-A3B3-1D82670FC5D5}"/>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9272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468B4-E355-69B3-7598-80ADF2F9CC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F1AB3B-AFC6-3627-62E6-22313061FA80}"/>
              </a:ext>
            </a:extLst>
          </p:cNvPr>
          <p:cNvSpPr>
            <a:spLocks noGrp="1"/>
          </p:cNvSpPr>
          <p:nvPr>
            <p:ph type="dt" sz="half" idx="10"/>
          </p:nvPr>
        </p:nvSpPr>
        <p:spPr/>
        <p:txBody>
          <a:bodyPr/>
          <a:lstStyle/>
          <a:p>
            <a:fld id="{79378C8C-5FBB-4DD7-A06D-BE263480794B}" type="datetime1">
              <a:rPr lang="en-IN" smtClean="0"/>
              <a:t>22-08-2026</a:t>
            </a:fld>
            <a:endParaRPr lang="en-IN"/>
          </a:p>
        </p:txBody>
      </p:sp>
      <p:sp>
        <p:nvSpPr>
          <p:cNvPr id="4" name="Footer Placeholder 3">
            <a:extLst>
              <a:ext uri="{FF2B5EF4-FFF2-40B4-BE49-F238E27FC236}">
                <a16:creationId xmlns:a16="http://schemas.microsoft.com/office/drawing/2014/main" id="{2B2C6591-48E4-480E-7965-DE9F830154A3}"/>
              </a:ext>
            </a:extLst>
          </p:cNvPr>
          <p:cNvSpPr>
            <a:spLocks noGrp="1"/>
          </p:cNvSpPr>
          <p:nvPr>
            <p:ph type="ftr" sz="quarter" idx="11"/>
          </p:nvPr>
        </p:nvSpPr>
        <p:spPr/>
        <p:txBody>
          <a:bodyPr/>
          <a:lstStyle/>
          <a:p>
            <a:r>
              <a:rPr lang="en-IN"/>
              <a:t>SCOPE</a:t>
            </a:r>
          </a:p>
        </p:txBody>
      </p:sp>
      <p:sp>
        <p:nvSpPr>
          <p:cNvPr id="5" name="Slide Number Placeholder 4">
            <a:extLst>
              <a:ext uri="{FF2B5EF4-FFF2-40B4-BE49-F238E27FC236}">
                <a16:creationId xmlns:a16="http://schemas.microsoft.com/office/drawing/2014/main" id="{F10C9D68-A16A-B2D3-C8A6-B5221AF744BC}"/>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075061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3F289A-3AD7-C11D-1594-90A35E592B5C}"/>
              </a:ext>
            </a:extLst>
          </p:cNvPr>
          <p:cNvSpPr>
            <a:spLocks noGrp="1"/>
          </p:cNvSpPr>
          <p:nvPr>
            <p:ph type="dt" sz="half" idx="10"/>
          </p:nvPr>
        </p:nvSpPr>
        <p:spPr/>
        <p:txBody>
          <a:bodyPr/>
          <a:lstStyle/>
          <a:p>
            <a:fld id="{31FD2985-06EC-459B-80C8-F6F4362A1C03}" type="datetime1">
              <a:rPr lang="en-IN" smtClean="0"/>
              <a:t>22-08-2026</a:t>
            </a:fld>
            <a:endParaRPr lang="en-IN"/>
          </a:p>
        </p:txBody>
      </p:sp>
      <p:sp>
        <p:nvSpPr>
          <p:cNvPr id="3" name="Footer Placeholder 2">
            <a:extLst>
              <a:ext uri="{FF2B5EF4-FFF2-40B4-BE49-F238E27FC236}">
                <a16:creationId xmlns:a16="http://schemas.microsoft.com/office/drawing/2014/main" id="{8C252269-BBE3-199F-299B-38D4E9CC1899}"/>
              </a:ext>
            </a:extLst>
          </p:cNvPr>
          <p:cNvSpPr>
            <a:spLocks noGrp="1"/>
          </p:cNvSpPr>
          <p:nvPr>
            <p:ph type="ftr" sz="quarter" idx="11"/>
          </p:nvPr>
        </p:nvSpPr>
        <p:spPr/>
        <p:txBody>
          <a:bodyPr/>
          <a:lstStyle/>
          <a:p>
            <a:r>
              <a:rPr lang="en-IN"/>
              <a:t>SCOPE</a:t>
            </a:r>
          </a:p>
        </p:txBody>
      </p:sp>
      <p:sp>
        <p:nvSpPr>
          <p:cNvPr id="4" name="Slide Number Placeholder 3">
            <a:extLst>
              <a:ext uri="{FF2B5EF4-FFF2-40B4-BE49-F238E27FC236}">
                <a16:creationId xmlns:a16="http://schemas.microsoft.com/office/drawing/2014/main" id="{F7407FDC-B2A9-1304-047F-5808A0B6B22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047265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A4847-FC20-D9BF-0BDE-26EC7EF74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D9C584-AC19-D7B4-9DFE-7C1BC2E1BC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F4A3262-CE8D-2419-DCCC-C536E9FDAC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4758D6-7AF2-29C5-E0EE-3B7BE155EC20}"/>
              </a:ext>
            </a:extLst>
          </p:cNvPr>
          <p:cNvSpPr>
            <a:spLocks noGrp="1"/>
          </p:cNvSpPr>
          <p:nvPr>
            <p:ph type="dt" sz="half" idx="10"/>
          </p:nvPr>
        </p:nvSpPr>
        <p:spPr/>
        <p:txBody>
          <a:bodyPr/>
          <a:lstStyle/>
          <a:p>
            <a:fld id="{71D7E9DA-13C6-48A4-9305-B592482DE8CE}" type="datetime1">
              <a:rPr lang="en-IN" smtClean="0"/>
              <a:t>22-08-2026</a:t>
            </a:fld>
            <a:endParaRPr lang="en-IN"/>
          </a:p>
        </p:txBody>
      </p:sp>
      <p:sp>
        <p:nvSpPr>
          <p:cNvPr id="6" name="Footer Placeholder 5">
            <a:extLst>
              <a:ext uri="{FF2B5EF4-FFF2-40B4-BE49-F238E27FC236}">
                <a16:creationId xmlns:a16="http://schemas.microsoft.com/office/drawing/2014/main" id="{45AAC7E7-68C4-7616-2DE1-0333E2C446CC}"/>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5E9EF51B-1685-66FF-0783-23584C25175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75638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39D0E-3A71-7252-C837-B8281F0DED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FE3D557-6893-299F-57A8-A7B173F101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CC8BA2-BB08-F4E3-5660-C7370BA56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57E1CE-C7CA-966D-8661-1E99A7DA2174}"/>
              </a:ext>
            </a:extLst>
          </p:cNvPr>
          <p:cNvSpPr>
            <a:spLocks noGrp="1"/>
          </p:cNvSpPr>
          <p:nvPr>
            <p:ph type="dt" sz="half" idx="10"/>
          </p:nvPr>
        </p:nvSpPr>
        <p:spPr/>
        <p:txBody>
          <a:bodyPr/>
          <a:lstStyle/>
          <a:p>
            <a:fld id="{F45E7C4B-C575-4DCF-9B63-045662930500}" type="datetime1">
              <a:rPr lang="en-IN" smtClean="0"/>
              <a:t>22-08-2026</a:t>
            </a:fld>
            <a:endParaRPr lang="en-IN"/>
          </a:p>
        </p:txBody>
      </p:sp>
      <p:sp>
        <p:nvSpPr>
          <p:cNvPr id="6" name="Footer Placeholder 5">
            <a:extLst>
              <a:ext uri="{FF2B5EF4-FFF2-40B4-BE49-F238E27FC236}">
                <a16:creationId xmlns:a16="http://schemas.microsoft.com/office/drawing/2014/main" id="{66055516-3E64-07E5-10C5-DE056657E44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AFBA5AD5-9867-E76D-C035-2856CCFBC128}"/>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940017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1D7EC-16EA-5009-5D33-ABFC55F2813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09EC6D-8ED5-29E9-9444-CC2D6A1CB8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1ADFC6-7CEA-ABEE-94C2-870B1E65737A}"/>
              </a:ext>
            </a:extLst>
          </p:cNvPr>
          <p:cNvSpPr>
            <a:spLocks noGrp="1"/>
          </p:cNvSpPr>
          <p:nvPr>
            <p:ph type="dt" sz="half" idx="10"/>
          </p:nvPr>
        </p:nvSpPr>
        <p:spPr/>
        <p:txBody>
          <a:bodyPr/>
          <a:lstStyle/>
          <a:p>
            <a:fld id="{5576931C-EA1A-43DD-B3B3-66F5BA587712}" type="datetime1">
              <a:rPr lang="en-IN" smtClean="0"/>
              <a:t>22-08-2026</a:t>
            </a:fld>
            <a:endParaRPr lang="en-IN"/>
          </a:p>
        </p:txBody>
      </p:sp>
      <p:sp>
        <p:nvSpPr>
          <p:cNvPr id="5" name="Footer Placeholder 4">
            <a:extLst>
              <a:ext uri="{FF2B5EF4-FFF2-40B4-BE49-F238E27FC236}">
                <a16:creationId xmlns:a16="http://schemas.microsoft.com/office/drawing/2014/main" id="{7B1FA3A5-596E-6C2A-F853-30C5DC6FBF0D}"/>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12CE6B1-CE87-B68F-9494-FA6D109F389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659809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0FF105-FC99-2BCB-131F-2B902F8BAE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354FD6-064F-6E12-E8DE-81EC913CDB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1D2109-32D1-4A0F-F903-5142A204EF48}"/>
              </a:ext>
            </a:extLst>
          </p:cNvPr>
          <p:cNvSpPr>
            <a:spLocks noGrp="1"/>
          </p:cNvSpPr>
          <p:nvPr>
            <p:ph type="dt" sz="half" idx="10"/>
          </p:nvPr>
        </p:nvSpPr>
        <p:spPr/>
        <p:txBody>
          <a:bodyPr/>
          <a:lstStyle/>
          <a:p>
            <a:fld id="{82C9B0E1-7C95-4C20-B9C6-BA51F388E878}" type="datetime1">
              <a:rPr lang="en-IN" smtClean="0"/>
              <a:t>22-08-2026</a:t>
            </a:fld>
            <a:endParaRPr lang="en-IN"/>
          </a:p>
        </p:txBody>
      </p:sp>
      <p:sp>
        <p:nvSpPr>
          <p:cNvPr id="5" name="Footer Placeholder 4">
            <a:extLst>
              <a:ext uri="{FF2B5EF4-FFF2-40B4-BE49-F238E27FC236}">
                <a16:creationId xmlns:a16="http://schemas.microsoft.com/office/drawing/2014/main" id="{73E5353D-EEF9-CF3C-A97F-F0F0EBFA7C59}"/>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DF2F1DC-3958-BCDE-9A16-88E928E7ED2D}"/>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3354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454249-E28B-CF91-F4A6-9762E4F38B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E3D641-7C66-CA7D-30A7-7F95AC27EF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E1D408-B228-838E-3E43-4304680A53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827C3E-786B-4150-9177-1C28966A2ADC}" type="datetime1">
              <a:rPr lang="en-IN" smtClean="0"/>
              <a:t>22-08-2026</a:t>
            </a:fld>
            <a:endParaRPr lang="en-IN"/>
          </a:p>
        </p:txBody>
      </p:sp>
      <p:sp>
        <p:nvSpPr>
          <p:cNvPr id="5" name="Footer Placeholder 4">
            <a:extLst>
              <a:ext uri="{FF2B5EF4-FFF2-40B4-BE49-F238E27FC236}">
                <a16:creationId xmlns:a16="http://schemas.microsoft.com/office/drawing/2014/main" id="{DCEC7A69-1922-F157-900C-FF95668316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SCOPE</a:t>
            </a:r>
          </a:p>
        </p:txBody>
      </p:sp>
      <p:sp>
        <p:nvSpPr>
          <p:cNvPr id="6" name="Slide Number Placeholder 5">
            <a:extLst>
              <a:ext uri="{FF2B5EF4-FFF2-40B4-BE49-F238E27FC236}">
                <a16:creationId xmlns:a16="http://schemas.microsoft.com/office/drawing/2014/main" id="{51B80E76-E345-1553-9664-0BCF569B55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1391841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0"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Relationships xmlns="http://schemas.openxmlformats.org/package/2006/relationships"><Relationship Id="rId1" Type="http://schemas.openxmlformats.org/officeDocument/2006/relationships/slideLayout" Target="../slideLayouts/slideLayout2.xml"/><Relationship Id="rId51"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9E27CD-EF84-CB3A-3D07-A3152356892A}"/>
              </a:ext>
            </a:extLst>
          </p:cNvPr>
          <p:cNvPicPr>
            <a:picLocks noChangeAspect="1"/>
          </p:cNvPicPr>
          <p:nvPr/>
        </p:nvPicPr>
        <p:blipFill>
          <a:blip r:embed="rId2"/>
          <a:stretch>
            <a:fillRect/>
          </a:stretch>
        </p:blipFill>
        <p:spPr>
          <a:xfrm>
            <a:off x="3837236" y="-11493"/>
            <a:ext cx="4517528" cy="1871634"/>
          </a:xfrm>
          <a:prstGeom prst="rect">
            <a:avLst/>
          </a:prstGeom>
        </p:spPr>
      </p:pic>
      <p:sp>
        <p:nvSpPr>
          <p:cNvPr id="7" name="Title 6">
            <a:extLst>
              <a:ext uri="{FF2B5EF4-FFF2-40B4-BE49-F238E27FC236}">
                <a16:creationId xmlns:a16="http://schemas.microsoft.com/office/drawing/2014/main" id="{8BAD67C4-20B4-E1F6-A7E7-C8C33181D0C9}"/>
              </a:ext>
            </a:extLst>
          </p:cNvPr>
          <p:cNvSpPr txBox="1">
            <a:spLocks noGrp="1"/>
          </p:cNvSpPr>
          <p:nvPr>
            <p:ph type="ctrTitle"/>
          </p:nvPr>
        </p:nvSpPr>
        <p:spPr>
          <a:xfrm>
            <a:off x="1907459" y="1934141"/>
            <a:ext cx="8924544" cy="1089529"/>
          </a:xfrm>
          <a:prstGeom prst="rect">
            <a:avLst/>
          </a:prstGeom>
          <a:noFill/>
        </p:spPr>
        <p:txBody>
          <a:bodyPr wrap="square" rtlCol="0">
            <a:spAutoFit/>
          </a:bodyPr>
          <a:lstStyle/>
          <a:p>
            <a:pPr algn="ctr"/>
            <a:r>
              <a:rPr lang="en-IN" sz="1800" b="1" dirty="0">
                <a:highlight>
                  <a:srgbClr val="FFFF00"/>
                </a:highlight>
                <a:latin typeface="Times New Roman" panose="02020603050405020304" pitchFamily="18" charset="0"/>
                <a:cs typeface="Times New Roman" panose="02020603050405020304" pitchFamily="18" charset="0"/>
              </a:rPr>
              <a:t>BCSE497J Project-I</a:t>
            </a:r>
            <a:br>
              <a:rPr lang="en-IN" sz="1800" b="1">
                <a:latin typeface="Times New Roman"/>
              </a:rPr>
            </a:br>
            <a:r>
              <a:rPr lang="en-IN" sz="1800" b="1" dirty="0">
                <a:highlight>
                  <a:srgbClr val="FFFF00"/>
                </a:highlight>
                <a:latin typeface="Times New Roman" panose="02020603050405020304" pitchFamily="18" charset="0"/>
                <a:cs typeface="Times New Roman" panose="02020603050405020304" pitchFamily="18" charset="0"/>
              </a:rPr>
              <a:t>B.Tech Data Science &amp; Engineering (Review 2)</a:t>
            </a:r>
            <a:br>
              <a:rPr lang="en-IN" sz="1800" b="1">
                <a:latin typeface="Times New Roman"/>
              </a:rPr>
            </a:br>
            <a:br>
              <a:rPr lang="en-IN" sz="3000" b="1">
                <a:latin typeface="Times New Roman"/>
              </a:rPr>
            </a:br>
            <a:r>
              <a:rPr lang="en-IN" sz="2600" b="1" dirty="0">
                <a:latin typeface="Times New Roman" panose="02020603050405020304" pitchFamily="18" charset="0"/>
                <a:cs typeface="Times New Roman" panose="02020603050405020304" pitchFamily="18" charset="0"/>
              </a:rPr>
              <a:t>Wearable Periorbital Multi-Sensor System for Early Detection of Diabetic Neuro-Retinal Changes</a:t>
            </a:r>
          </a:p>
        </p:txBody>
      </p:sp>
      <p:sp>
        <p:nvSpPr>
          <p:cNvPr id="9" name="object 3">
            <a:extLst>
              <a:ext uri="{FF2B5EF4-FFF2-40B4-BE49-F238E27FC236}">
                <a16:creationId xmlns:a16="http://schemas.microsoft.com/office/drawing/2014/main" id="{68BC382C-506F-4908-6AC3-C0AA73064F47}"/>
              </a:ext>
            </a:extLst>
          </p:cNvPr>
          <p:cNvSpPr txBox="1"/>
          <p:nvPr/>
        </p:nvSpPr>
        <p:spPr>
          <a:xfrm>
            <a:off x="2609088" y="3208471"/>
            <a:ext cx="7071360" cy="2460809"/>
          </a:xfrm>
          <a:prstGeom prst="rect">
            <a:avLst/>
          </a:prstGeom>
        </p:spPr>
        <p:txBody>
          <a:bodyPr vert="horz" wrap="square" lIns="0" tIns="12700" rIns="0" bIns="0" rtlCol="0">
            <a:spAutoFit/>
          </a:bodyPr>
          <a:lstStyle/>
          <a:p>
            <a:pPr>
              <a:lnSpc>
                <a:spcPct val="100000"/>
              </a:lnSpc>
              <a:spcBef>
                <a:spcPts val="200"/>
              </a:spcBef>
            </a:pPr>
            <a:endParaRPr sz="1800" dirty="0">
              <a:latin typeface="Times New Roman"/>
              <a:cs typeface="Times New Roman"/>
            </a:endParaRPr>
          </a:p>
          <a:p>
            <a:pPr marL="12700">
              <a:lnSpc>
                <a:spcPct val="100000"/>
              </a:lnSpc>
            </a:pPr>
            <a:r>
              <a:rPr sz="2000" spc="-20" dirty="0">
                <a:latin typeface="Times New Roman"/>
                <a:cs typeface="Times New Roman"/>
              </a:rPr>
              <a:t>Team</a:t>
            </a:r>
            <a:r>
              <a:rPr sz="2000" spc="-80" dirty="0">
                <a:latin typeface="Times New Roman"/>
                <a:cs typeface="Times New Roman"/>
              </a:rPr>
              <a:t> </a:t>
            </a:r>
            <a:r>
              <a:rPr sz="2000" spc="-10" dirty="0">
                <a:latin typeface="Times New Roman"/>
                <a:cs typeface="Times New Roman"/>
              </a:rPr>
              <a:t>members:</a:t>
            </a:r>
            <a:endParaRPr sz="2000" dirty="0">
              <a:latin typeface="Times New Roman"/>
              <a:cs typeface="Times New Roman"/>
            </a:endParaRPr>
          </a:p>
          <a:p>
            <a:pPr marL="149225" indent="-136525">
              <a:lnSpc>
                <a:spcPct val="100000"/>
              </a:lnSpc>
              <a:spcBef>
                <a:spcPts val="20"/>
              </a:spcBef>
              <a:buFont typeface="Times New Roman"/>
              <a:buChar char="•"/>
              <a:tabLst>
                <a:tab pos="149225" algn="l"/>
              </a:tabLst>
            </a:pPr>
            <a:r>
              <a:rPr lang="en-IN" sz="2000" b="1" dirty="0">
                <a:latin typeface="Times New Roman"/>
                <a:cs typeface="Times New Roman"/>
              </a:rPr>
              <a:t>Shlok Goenka		  (</a:t>
            </a:r>
            <a:r>
              <a:rPr lang="en-IN" sz="2000" b="1" dirty="0" err="1">
                <a:latin typeface="Times New Roman"/>
                <a:cs typeface="Times New Roman"/>
              </a:rPr>
              <a:t>23BDS0316</a:t>
            </a:r>
            <a:r>
              <a:rPr lang="en-IN" sz="2000" b="1" dirty="0">
                <a:latin typeface="Times New Roman"/>
                <a:cs typeface="Times New Roman"/>
              </a:rPr>
              <a:t>)</a:t>
            </a:r>
          </a:p>
          <a:p>
            <a:pPr marL="149225" indent="-136525">
              <a:lnSpc>
                <a:spcPct val="100000"/>
              </a:lnSpc>
              <a:spcBef>
                <a:spcPts val="20"/>
              </a:spcBef>
              <a:buFont typeface="Times New Roman"/>
              <a:buChar char="•"/>
              <a:tabLst>
                <a:tab pos="149225" algn="l"/>
              </a:tabLst>
            </a:pPr>
            <a:r>
              <a:rPr lang="en-IN" sz="2000" b="1" dirty="0">
                <a:latin typeface="Times New Roman"/>
                <a:cs typeface="Times New Roman"/>
              </a:rPr>
              <a:t>Aryan Hundia		  (</a:t>
            </a:r>
            <a:r>
              <a:rPr lang="en-IN" sz="2000" b="1" dirty="0" err="1">
                <a:latin typeface="Times New Roman"/>
                <a:cs typeface="Times New Roman"/>
              </a:rPr>
              <a:t>23BCI0020</a:t>
            </a:r>
            <a:r>
              <a:rPr lang="en-IN" sz="2000" b="1" dirty="0">
                <a:latin typeface="Times New Roman"/>
                <a:cs typeface="Times New Roman"/>
              </a:rPr>
              <a:t>)</a:t>
            </a:r>
          </a:p>
          <a:p>
            <a:pPr marL="149225" indent="-136525">
              <a:lnSpc>
                <a:spcPct val="100000"/>
              </a:lnSpc>
              <a:spcBef>
                <a:spcPts val="20"/>
              </a:spcBef>
              <a:buFont typeface="Times New Roman"/>
              <a:buChar char="•"/>
              <a:tabLst>
                <a:tab pos="149225" algn="l"/>
              </a:tabLst>
            </a:pPr>
            <a:endParaRPr lang="en-IN" sz="2000" b="1" dirty="0">
              <a:latin typeface="Times New Roman"/>
              <a:cs typeface="Times New Roman"/>
            </a:endParaRPr>
          </a:p>
          <a:p>
            <a:pPr marL="12700">
              <a:lnSpc>
                <a:spcPct val="100000"/>
              </a:lnSpc>
              <a:spcBef>
                <a:spcPts val="100"/>
              </a:spcBef>
            </a:pPr>
            <a:r>
              <a:rPr lang="en-US" sz="2000" dirty="0">
                <a:latin typeface="Times New Roman"/>
                <a:cs typeface="Times New Roman"/>
              </a:rPr>
              <a:t>Faculty</a:t>
            </a:r>
            <a:r>
              <a:rPr lang="en-US" sz="2000" spc="-60" dirty="0">
                <a:latin typeface="Times New Roman"/>
                <a:cs typeface="Times New Roman"/>
              </a:rPr>
              <a:t> </a:t>
            </a:r>
            <a:r>
              <a:rPr lang="en-US" sz="2000" dirty="0">
                <a:latin typeface="Times New Roman"/>
                <a:cs typeface="Times New Roman"/>
              </a:rPr>
              <a:t>guide</a:t>
            </a:r>
            <a:r>
              <a:rPr lang="en-US" sz="2000" spc="-55" dirty="0">
                <a:latin typeface="Times New Roman"/>
                <a:cs typeface="Times New Roman"/>
              </a:rPr>
              <a:t> </a:t>
            </a:r>
            <a:r>
              <a:rPr lang="en-US" sz="2000" spc="-50" dirty="0">
                <a:latin typeface="Times New Roman"/>
                <a:cs typeface="Times New Roman"/>
              </a:rPr>
              <a:t>:</a:t>
            </a:r>
            <a:endParaRPr lang="en-US" sz="2000" dirty="0">
              <a:latin typeface="Times New Roman"/>
              <a:cs typeface="Times New Roman"/>
            </a:endParaRPr>
          </a:p>
          <a:p>
            <a:pPr marL="12700">
              <a:lnSpc>
                <a:spcPct val="100000"/>
              </a:lnSpc>
              <a:spcBef>
                <a:spcPts val="20"/>
              </a:spcBef>
            </a:pPr>
            <a:r>
              <a:rPr lang="en-US" sz="2000" b="1" dirty="0">
                <a:latin typeface="Times New Roman"/>
                <a:cs typeface="Times New Roman"/>
              </a:rPr>
              <a:t/>
            </a:r>
            <a:r>
              <a:rPr lang="en-US" sz="2000" b="1" dirty="0" err="1">
                <a:latin typeface="Times New Roman"/>
                <a:cs typeface="Times New Roman"/>
              </a:rPr>
              <a:t>Dr. Jayashree J</a:t>
            </a:r>
            <a:r>
              <a:rPr lang="en-US" sz="2000" b="1" dirty="0">
                <a:latin typeface="Times New Roman"/>
                <a:cs typeface="Times New Roman"/>
              </a:rPr>
              <a:t/>
            </a:r>
            <a:endParaRPr lang="en-US" sz="2000" dirty="0">
              <a:latin typeface="Times New Roman"/>
              <a:cs typeface="Times New Roman"/>
            </a:endParaRPr>
          </a:p>
          <a:p>
            <a:pPr marL="149225" indent="-136525">
              <a:lnSpc>
                <a:spcPct val="100000"/>
              </a:lnSpc>
              <a:spcBef>
                <a:spcPts val="20"/>
              </a:spcBef>
              <a:buFont typeface="Times New Roman"/>
              <a:buChar char="•"/>
              <a:tabLst>
                <a:tab pos="149225" algn="l"/>
              </a:tabLst>
            </a:pPr>
            <a:endParaRPr sz="1800" dirty="0">
              <a:latin typeface="Times New Roman"/>
              <a:cs typeface="Times New Roman"/>
            </a:endParaRPr>
          </a:p>
        </p:txBody>
      </p:sp>
    </p:spTree>
    <p:extLst>
      <p:ext uri="{BB962C8B-B14F-4D97-AF65-F5344CB8AC3E}">
        <p14:creationId xmlns:p14="http://schemas.microsoft.com/office/powerpoint/2010/main" val="4243036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CBE13-A9D6-9564-DA47-597E38E09F70}"/>
              </a:ext>
            </a:extLst>
          </p:cNvPr>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Approval Mail From Guide</a:t>
            </a:r>
          </a:p>
        </p:txBody>
      </p:sp>
      <p:sp>
        <p:nvSpPr>
          <p:cNvPr id="3" name="Content Placeholder 2">
            <a:extLst>
              <a:ext uri="{FF2B5EF4-FFF2-40B4-BE49-F238E27FC236}">
                <a16:creationId xmlns:a16="http://schemas.microsoft.com/office/drawing/2014/main" id="{8233367C-DAD6-6E34-D21A-A981C09442F2}"/>
              </a:ext>
            </a:extLst>
          </p:cNvPr>
          <p:cNvSpPr>
            <a:spLocks noGrp="1"/>
          </p:cNvSpPr>
          <p:nvPr>
            <p:ph idx="1"/>
          </p:nvPr>
        </p:nvSpPr>
        <p:spPr/>
        <p:txBody>
          <a:bodyPr/>
          <a:lstStyle/>
          <a:p>
            <a:r>
              <a:rPr lang="en-IN" i="1" dirty="0">
                <a:highlight>
                  <a:srgbClr val="FFFF00"/>
                </a:highlight>
              </a:rPr>
              <a:t>Get the approval for the following points from your guide through mail before  01-09-2026.(sample attached below)</a:t>
            </a:r>
          </a:p>
        </p:txBody>
      </p:sp>
      <p:sp>
        <p:nvSpPr>
          <p:cNvPr id="4" name="Date Placeholder 3">
            <a:extLst>
              <a:ext uri="{FF2B5EF4-FFF2-40B4-BE49-F238E27FC236}">
                <a16:creationId xmlns:a16="http://schemas.microsoft.com/office/drawing/2014/main" id="{C7827C50-3ED3-2DB6-C227-6784C6CA9E30}"/>
              </a:ext>
            </a:extLst>
          </p:cNvPr>
          <p:cNvSpPr>
            <a:spLocks noGrp="1"/>
          </p:cNvSpPr>
          <p:nvPr>
            <p:ph type="dt" sz="half" idx="10"/>
          </p:nvPr>
        </p:nvSpPr>
        <p:spPr/>
        <p:txBody>
          <a:bodyPr/>
          <a:lstStyle/>
          <a:p>
            <a:r>
              <a:rPr lang="en-IN"/>
              <a:t>22-08-2026</a:t>
            </a:r>
            <a:endParaRPr lang="en-IN" dirty="0"/>
          </a:p>
        </p:txBody>
      </p:sp>
      <p:sp>
        <p:nvSpPr>
          <p:cNvPr id="5" name="Footer Placeholder 4">
            <a:extLst>
              <a:ext uri="{FF2B5EF4-FFF2-40B4-BE49-F238E27FC236}">
                <a16:creationId xmlns:a16="http://schemas.microsoft.com/office/drawing/2014/main" id="{56664170-792F-28F8-1C31-5F7A8D69F97E}"/>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E16528B-72DB-0275-6A94-33ABB5CD7075}"/>
              </a:ext>
            </a:extLst>
          </p:cNvPr>
          <p:cNvSpPr>
            <a:spLocks noGrp="1"/>
          </p:cNvSpPr>
          <p:nvPr>
            <p:ph type="sldNum" sz="quarter" idx="12"/>
          </p:nvPr>
        </p:nvSpPr>
        <p:spPr/>
        <p:txBody>
          <a:bodyPr/>
          <a:lstStyle/>
          <a:p>
            <a:fld id="{65201FD4-9D8D-4491-815B-63C7BF4F0034}" type="slidenum">
              <a:rPr lang="en-IN" smtClean="0"/>
              <a:t>2</a:t>
            </a:fld>
            <a:endParaRPr lang="en-IN"/>
          </a:p>
        </p:txBody>
      </p:sp>
      <p:pic>
        <p:nvPicPr>
          <p:cNvPr id="10" name="Picture 9">
            <a:extLst>
              <a:ext uri="{FF2B5EF4-FFF2-40B4-BE49-F238E27FC236}">
                <a16:creationId xmlns:a16="http://schemas.microsoft.com/office/drawing/2014/main" id="{8CFF88D1-7A15-E122-39FA-9C7DA1DFCDF4}"/>
              </a:ext>
            </a:extLst>
          </p:cNvPr>
          <p:cNvPicPr>
            <a:picLocks noChangeAspect="1"/>
          </p:cNvPicPr>
          <p:nvPr/>
        </p:nvPicPr>
        <p:blipFill>
          <a:blip r:embed="rId2"/>
          <a:stretch>
            <a:fillRect/>
          </a:stretch>
        </p:blipFill>
        <p:spPr>
          <a:xfrm>
            <a:off x="673866" y="2653482"/>
            <a:ext cx="11381493" cy="3296214"/>
          </a:xfrm>
          <a:prstGeom prst="rect">
            <a:avLst/>
          </a:prstGeom>
        </p:spPr>
      </p:pic>
    </p:spTree>
    <p:extLst>
      <p:ext uri="{BB962C8B-B14F-4D97-AF65-F5344CB8AC3E}">
        <p14:creationId xmlns:p14="http://schemas.microsoft.com/office/powerpoint/2010/main" val="1256560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68A428-04DA-E6A8-7606-5D2FE5F31C52}"/>
              </a:ext>
            </a:extLst>
          </p:cNvPr>
          <p:cNvSpPr>
            <a:spLocks noGrp="1"/>
          </p:cNvSpPr>
          <p:nvPr>
            <p:ph idx="1"/>
          </p:nvPr>
        </p:nvSpPr>
        <p:spPr/>
        <p:txBody>
          <a:bodyPr>
            <a:normAutofit fontScale="85000" lnSpcReduction="10000"/>
          </a:bodyPr>
          <a:lstStyle/>
          <a:p>
            <a:pPr marL="0" lvl="0" indent="0">
              <a:spcAft>
                <a:spcPts val="700"/>
              </a:spcAft>
              <a:buNone/>
            </a:pPr>
            <a:r>
              <a:rPr lang="en-IN" sz="1700" dirty="0">
                <a:latin typeface="Times New Roman" panose="02020603050405020304" pitchFamily="18" charset="0"/>
                <a:cs typeface="Times New Roman" panose="02020603050405020304" pitchFamily="18" charset="0"/>
              </a:rPr>
              <a:t>To design and develop a wearable periorbital multi-sensor system that enables early, non-invasive and continuous detection of diabetic neuro-retinal changes by simultaneously monitoring retinopathy and neuropathy biomarkers in a single spectacle-frame device.</a:t>
            </a:r>
          </a:p>
          <a:p>
            <a:pPr marL="0" lvl="0" indent="0">
              <a:spcAft>
                <a:spcPts val="400"/>
              </a:spcAft>
              <a:buNone/>
            </a:pPr>
            <a:r>
              <a:rPr lang="en-IN" sz="1550" dirty="0">
                <a:latin typeface="Times New Roman" panose="02020603050405020304" pitchFamily="18" charset="0"/>
                <a:cs typeface="Times New Roman" panose="02020603050405020304" pitchFamily="18" charset="0"/>
              </a:rPr>
              <a:t>The system integrates four complementary sensing modalities (infrared pupillography, periorbital thermography, bioimpedance spectroscopy and photoplethysmography) with an edge-AI processor to compute a unified Neuro-Retinal Deterioration Index (NRDI) correlated with continuous glucose monitoring data.</a:t>
            </a:r>
          </a:p>
        </p:txBody>
      </p:sp>
      <p:sp>
        <p:nvSpPr>
          <p:cNvPr id="4" name="object 2">
            <a:extLst>
              <a:ext uri="{FF2B5EF4-FFF2-40B4-BE49-F238E27FC236}">
                <a16:creationId xmlns:a16="http://schemas.microsoft.com/office/drawing/2014/main" id="{027305EA-516C-11F8-8A54-2BA046094ABC}"/>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spc="-25" dirty="0">
                <a:latin typeface="Times New Roman" panose="02020603050405020304" pitchFamily="18" charset="0"/>
                <a:cs typeface="Times New Roman" panose="02020603050405020304" pitchFamily="18" charset="0"/>
              </a:rPr>
              <a:t>Aim</a:t>
            </a:r>
            <a:endParaRPr sz="3000" b="1"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779E6AA7-AE20-8A91-BA42-261BF76A2F8B}"/>
              </a:ext>
            </a:extLst>
          </p:cNvPr>
          <p:cNvSpPr>
            <a:spLocks noGrp="1"/>
          </p:cNvSpPr>
          <p:nvPr>
            <p:ph type="dt" sz="half" idx="10"/>
          </p:nvPr>
        </p:nvSpPr>
        <p:spPr/>
        <p:txBody>
          <a:bodyPr/>
          <a:lstStyle/>
          <a:p>
            <a:r>
              <a:rPr lang="en-IN"/>
              <a:t>22-08-2026</a:t>
            </a:r>
            <a:endParaRPr lang="en-IN"/>
          </a:p>
        </p:txBody>
      </p:sp>
      <p:sp>
        <p:nvSpPr>
          <p:cNvPr id="8" name="Footer Placeholder 7">
            <a:extLst>
              <a:ext uri="{FF2B5EF4-FFF2-40B4-BE49-F238E27FC236}">
                <a16:creationId xmlns:a16="http://schemas.microsoft.com/office/drawing/2014/main" id="{B77FE434-77F0-B8BE-9198-66090332F3F0}"/>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5AD6A9DA-AEE9-F6FE-EFA8-06396314F7E6}"/>
              </a:ext>
            </a:extLst>
          </p:cNvPr>
          <p:cNvSpPr>
            <a:spLocks noGrp="1"/>
          </p:cNvSpPr>
          <p:nvPr>
            <p:ph type="sldNum" sz="quarter" idx="12"/>
          </p:nvPr>
        </p:nvSpPr>
        <p:spPr/>
        <p:txBody>
          <a:bodyPr/>
          <a:lstStyle/>
          <a:p>
            <a:fld id="{65201FD4-9D8D-4491-815B-63C7BF4F0034}" type="slidenum">
              <a:rPr lang="en-IN" smtClean="0"/>
              <a:t>3</a:t>
            </a:fld>
            <a:endParaRPr lang="en-IN"/>
          </a:p>
        </p:txBody>
      </p:sp>
    </p:spTree>
    <p:extLst>
      <p:ext uri="{BB962C8B-B14F-4D97-AF65-F5344CB8AC3E}">
        <p14:creationId xmlns:p14="http://schemas.microsoft.com/office/powerpoint/2010/main" val="2543518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95E8-8D7C-F548-8B75-23C3B2B15B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DDED8F-1EBD-2E10-598E-0CA3F56F05DF}"/>
              </a:ext>
            </a:extLst>
          </p:cNvPr>
          <p:cNvSpPr>
            <a:spLocks noGrp="1"/>
          </p:cNvSpPr>
          <p:nvPr>
            <p:ph idx="1"/>
          </p:nvPr>
        </p:nvSpPr>
        <p:spPr/>
        <p:txBody>
          <a:bodyPr>
            <a:normAutofit fontScale="85000" lnSpcReduction="10000"/>
          </a:bodyPr>
          <a:lstStyle/>
          <a:p>
            <a:pPr marL="285750" lvl="0" indent="-285750">
              <a:spcAft>
                <a:spcPts val="380"/>
              </a:spcAft>
              <a:buFont typeface="Arial"/>
              <a:buChar char="•"/>
            </a:pPr>
            <a:r>
              <a:rPr lang="en-IN" sz="1400" dirty="0">
                <a:latin typeface="Times New Roman" panose="02020603050405020304" pitchFamily="18" charset="0"/>
                <a:cs typeface="Times New Roman" panose="02020603050405020304" pitchFamily="18" charset="0"/>
              </a:rPr>
              <a:t>Diabetic patients with 10+ years of disease develop parallel microvascular complications, namely diabetic retinopathy (DR) and diabetic peripheral neuropathy (DPN), yet current screening treats these as isolated conditions requiring separate specialists, equipment and clinical visits.</a:t>
            </a:r>
          </a:p>
          <a:p>
            <a:pPr marL="285750" lvl="0" indent="-285750">
              <a:spcAft>
                <a:spcPts val="380"/>
              </a:spcAft>
              <a:buFont typeface="Arial"/>
              <a:buChar char="•"/>
            </a:pPr>
            <a:r>
              <a:rPr lang="en-IN" sz="1400" dirty="0">
                <a:latin typeface="Times New Roman" panose="02020603050405020304" pitchFamily="18" charset="0"/>
                <a:cs typeface="Times New Roman" panose="02020603050405020304" pitchFamily="18" charset="0"/>
              </a:rPr>
              <a:t>This work proposes a spectacle-frame wearable embedding four sensor modalities that continuously acquire periorbital physiological signals correlated with both DR and DPN progression: pupillary dynamics (autonomic neuropathy), periorbital skin temperature (retinal microvascular perfusion), tissue bioimpedance (macular edema) and temporal-artery pulse (vascular stiffness and cardiac autonomic neuropathy).</a:t>
            </a:r>
          </a:p>
          <a:p>
            <a:pPr marL="285750" lvl="0" indent="-285750">
              <a:spcAft>
                <a:spcPts val="300"/>
              </a:spcAft>
              <a:buFont typeface="Arial"/>
              <a:buChar char="•"/>
            </a:pPr>
            <a:r>
              <a:rPr lang="en-IN" sz="1400" dirty="0">
                <a:latin typeface="Times New Roman" panose="02020603050405020304" pitchFamily="18" charset="0"/>
                <a:cs typeface="Times New Roman" panose="02020603050405020304" pitchFamily="18" charset="0"/>
              </a:rPr>
              <a:t>An edge-AI fusion engine computes a unified Neuro-Retinal Deterioration Index (NRDI), enabling detection of subclinical deterioration 6 to 18 months before conventional annual screening, at an estimated hardware cost under Rs 8,000, making it deployable at rural primary health centres.</a:t>
            </a:r>
          </a:p>
        </p:txBody>
      </p:sp>
      <p:sp>
        <p:nvSpPr>
          <p:cNvPr id="4" name="object 2">
            <a:extLst>
              <a:ext uri="{FF2B5EF4-FFF2-40B4-BE49-F238E27FC236}">
                <a16:creationId xmlns:a16="http://schemas.microsoft.com/office/drawing/2014/main" id="{156C6ACB-BF9E-DB99-B99C-4896C652737E}"/>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Abstract</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C3D067F-DF0A-3BD2-0B9E-C22E39B7F8C0}"/>
              </a:ext>
            </a:extLst>
          </p:cNvPr>
          <p:cNvSpPr>
            <a:spLocks noGrp="1"/>
          </p:cNvSpPr>
          <p:nvPr>
            <p:ph type="dt" sz="half" idx="10"/>
          </p:nvPr>
        </p:nvSpPr>
        <p:spPr/>
        <p:txBody>
          <a:bodyPr/>
          <a:lstStyle/>
          <a:p>
            <a:r>
              <a:rPr lang="en-IN"/>
              <a:t>22-08-2026</a:t>
            </a:r>
            <a:endParaRPr lang="en-IN"/>
          </a:p>
        </p:txBody>
      </p:sp>
      <p:sp>
        <p:nvSpPr>
          <p:cNvPr id="5" name="Footer Placeholder 4">
            <a:extLst>
              <a:ext uri="{FF2B5EF4-FFF2-40B4-BE49-F238E27FC236}">
                <a16:creationId xmlns:a16="http://schemas.microsoft.com/office/drawing/2014/main" id="{E1EFD8C3-C2D0-4BBB-7FD8-43FE2C084A64}"/>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8BB9991A-41D4-F0AB-EF39-ACE70C817D43}"/>
              </a:ext>
            </a:extLst>
          </p:cNvPr>
          <p:cNvSpPr>
            <a:spLocks noGrp="1"/>
          </p:cNvSpPr>
          <p:nvPr>
            <p:ph type="sldNum" sz="quarter" idx="12"/>
          </p:nvPr>
        </p:nvSpPr>
        <p:spPr/>
        <p:txBody>
          <a:bodyPr/>
          <a:lstStyle/>
          <a:p>
            <a:fld id="{65201FD4-9D8D-4491-815B-63C7BF4F0034}" type="slidenum">
              <a:rPr lang="en-IN" smtClean="0"/>
              <a:t>4</a:t>
            </a:fld>
            <a:endParaRPr lang="en-IN"/>
          </a:p>
        </p:txBody>
      </p:sp>
    </p:spTree>
    <p:extLst>
      <p:ext uri="{BB962C8B-B14F-4D97-AF65-F5344CB8AC3E}">
        <p14:creationId xmlns:p14="http://schemas.microsoft.com/office/powerpoint/2010/main" val="3453097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0AE58-8206-476A-BECC-A1ADC0EA154A}"/>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435FB437-6170-6BA2-1A38-A902855A3E61}"/>
              </a:ext>
            </a:extLst>
          </p:cNvPr>
          <p:cNvSpPr txBox="1">
            <a:spLocks noGrp="1"/>
          </p:cNvSpPr>
          <p:nvPr>
            <p:ph type="title"/>
          </p:nvPr>
        </p:nvSpPr>
        <p:spPr>
          <a:xfrm>
            <a:off x="448056"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Literature Review</a:t>
            </a:r>
            <a:endParaRPr sz="30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2EB6993A-B8FB-1E92-71D4-98155A7EDC1C}"/>
              </a:ext>
            </a:extLst>
          </p:cNvPr>
          <p:cNvPicPr>
            <a:picLocks noChangeAspect="1"/>
          </p:cNvPicPr>
          <p:nvPr/>
        </p:nvPicPr>
        <p:blipFill>
          <a:blip r:embed="rId3"/>
          <a:stretch>
            <a:fillRect/>
          </a:stretch>
        </p:blipFill>
        <p:spPr>
          <a:xfrm>
            <a:off x="700000" y="5450000"/>
            <a:ext cx="4017612" cy="487722"/>
          </a:xfrm>
          <a:prstGeom prst="rect">
            <a:avLst/>
          </a:prstGeom>
        </p:spPr>
      </p:pic>
      <p:sp>
        <p:nvSpPr>
          <p:cNvPr id="8" name="Date Placeholder 7">
            <a:extLst>
              <a:ext uri="{FF2B5EF4-FFF2-40B4-BE49-F238E27FC236}">
                <a16:creationId xmlns:a16="http://schemas.microsoft.com/office/drawing/2014/main" id="{913BC6E0-D294-E70D-8B27-13FBFEE5E6F7}"/>
              </a:ext>
            </a:extLst>
          </p:cNvPr>
          <p:cNvSpPr>
            <a:spLocks noGrp="1"/>
          </p:cNvSpPr>
          <p:nvPr>
            <p:ph type="dt" sz="half" idx="10"/>
          </p:nvPr>
        </p:nvSpPr>
        <p:spPr/>
        <p:txBody>
          <a:bodyPr/>
          <a:lstStyle/>
          <a:p>
            <a:r>
              <a:rPr lang="en-IN"/>
              <a:t>22-08-2026</a:t>
            </a:r>
            <a:endParaRPr lang="en-IN"/>
          </a:p>
        </p:txBody>
      </p:sp>
      <p:sp>
        <p:nvSpPr>
          <p:cNvPr id="9" name="Footer Placeholder 8">
            <a:extLst>
              <a:ext uri="{FF2B5EF4-FFF2-40B4-BE49-F238E27FC236}">
                <a16:creationId xmlns:a16="http://schemas.microsoft.com/office/drawing/2014/main" id="{1F284BA2-3334-3EC1-0E81-4C909589729F}"/>
              </a:ext>
            </a:extLst>
          </p:cNvPr>
          <p:cNvSpPr>
            <a:spLocks noGrp="1"/>
          </p:cNvSpPr>
          <p:nvPr>
            <p:ph type="ftr" sz="quarter" idx="11"/>
          </p:nvPr>
        </p:nvSpPr>
        <p:spPr/>
        <p:txBody>
          <a:bodyPr/>
          <a:lstStyle/>
          <a:p>
            <a:r>
              <a:rPr lang="en-IN"/>
              <a:t>SCOPE</a:t>
            </a:r>
          </a:p>
        </p:txBody>
      </p:sp>
      <p:sp>
        <p:nvSpPr>
          <p:cNvPr id="10" name="Slide Number Placeholder 9">
            <a:extLst>
              <a:ext uri="{FF2B5EF4-FFF2-40B4-BE49-F238E27FC236}">
                <a16:creationId xmlns:a16="http://schemas.microsoft.com/office/drawing/2014/main" id="{5A8F14EB-D02F-8EDE-87F4-A3F7E8D20C44}"/>
              </a:ext>
            </a:extLst>
          </p:cNvPr>
          <p:cNvSpPr>
            <a:spLocks noGrp="1"/>
          </p:cNvSpPr>
          <p:nvPr>
            <p:ph type="sldNum" sz="quarter" idx="12"/>
          </p:nvPr>
        </p:nvSpPr>
        <p:spPr/>
        <p:txBody>
          <a:bodyPr/>
          <a:lstStyle/>
          <a:p>
            <a:fld id="{65201FD4-9D8D-4491-815B-63C7BF4F0034}" type="slidenum">
              <a:rPr lang="en-IN" smtClean="0"/>
              <a:t>5</a:t>
            </a:fld>
            <a:endParaRPr lang="en-IN"/>
          </a:p>
        </p:txBody>
      </p:sp>
      <p:pic xmlns:p="http://schemas.openxmlformats.org/presentationml/2006/main" xmlns:a="http://schemas.openxmlformats.org/drawingml/2006/main" xmlns:r="http://schemas.openxmlformats.org/officeDocument/2006/relationships">
        <p:nvPicPr>
          <p:cNvPr id="60" name="LitReviewTable"/>
          <p:cNvPicPr>
            <a:picLocks noChangeAspect="1"/>
          </p:cNvPicPr>
          <p:nvPr/>
        </p:nvPicPr>
        <p:blipFill>
          <a:blip r:embed="rId50"/>
          <a:stretch>
            <a:fillRect/>
          </a:stretch>
        </p:blipFill>
        <p:spPr>
          <a:xfrm>
            <a:off x="1746000" y="1450000"/>
            <a:ext cx="8700000" cy="3417124"/>
          </a:xfrm>
          <a:prstGeom prst="rect">
            <a:avLst/>
          </a:prstGeom>
        </p:spPr>
      </p:pic>
    </p:spTree>
    <p:extLst>
      <p:ext uri="{BB962C8B-B14F-4D97-AF65-F5344CB8AC3E}">
        <p14:creationId xmlns:p14="http://schemas.microsoft.com/office/powerpoint/2010/main" val="857449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4C5E-26B3-2EE9-895A-F822E4C49E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7F8AC8-6380-9217-CA4C-1FBF1C25C60E}"/>
              </a:ext>
            </a:extLst>
          </p:cNvPr>
          <p:cNvSpPr>
            <a:spLocks noGrp="1"/>
          </p:cNvSpPr>
          <p:nvPr>
            <p:ph idx="1"/>
          </p:nvPr>
        </p:nvSpPr>
        <p:spPr/>
        <p:txBody>
          <a:bodyPr>
            <a:normAutofit fontScale="85000" lnSpcReduction="10000"/>
          </a:bodyPr>
          <a:lstStyle/>
          <a:p>
            <a:pPr marL="285750" lvl="0" indent="-285750">
              <a:spcAft>
                <a:spcPts val="340"/>
              </a:spcAft>
              <a:buFont typeface="Arial"/>
              <a:buChar char="•"/>
            </a:pPr>
            <a:r>
              <a:rPr lang="en-IN" sz="1400" dirty="0" b="1">
                <a:latin typeface="Times New Roman" panose="02020603050405020304" pitchFamily="18" charset="0"/>
                <a:cs typeface="Times New Roman" panose="02020603050405020304" pitchFamily="18" charset="0"/>
              </a:rPr>
              <a:t>Isolated screening: </a:t>
            </a:r>
            <a:r>
              <a:rPr lang="en-IN" sz="1400" dirty="0">
                <a:latin typeface="Times New Roman" panose="02020603050405020304" pitchFamily="18" charset="0"/>
                <a:cs typeface="Times New Roman" panose="02020603050405020304" pitchFamily="18" charset="0"/>
              </a:rPr>
              <a:t>all existing devices (IDx-DR, Remidio, RETeval) detect retinopathy OR neuropathy, never both in one device.</a:t>
            </a:r>
          </a:p>
          <a:p>
            <a:pPr marL="285750" lvl="0" indent="-285750">
              <a:spcAft>
                <a:spcPts val="340"/>
              </a:spcAft>
              <a:buFont typeface="Arial"/>
              <a:buChar char="•"/>
            </a:pPr>
            <a:r>
              <a:rPr lang="en-IN" sz="1400" dirty="0" b="1">
                <a:latin typeface="Times New Roman" panose="02020603050405020304" pitchFamily="18" charset="0"/>
                <a:cs typeface="Times New Roman" panose="02020603050405020304" pitchFamily="18" charset="0"/>
              </a:rPr>
              <a:t>Fundus-camera dependency: </a:t>
            </a:r>
            <a:r>
              <a:rPr lang="en-IN" sz="1400" dirty="0">
                <a:latin typeface="Times New Roman" panose="02020603050405020304" pitchFamily="18" charset="0"/>
                <a:cs typeface="Times New Roman" panose="02020603050405020304" pitchFamily="18" charset="0"/>
              </a:rPr>
              <a:t>every DR screening method requires a fundus camera (Rs 2 to 15 lakh), unavailable at rural PHCs.</a:t>
            </a:r>
          </a:p>
          <a:p>
            <a:pPr marL="285750" lvl="0" indent="-285750">
              <a:spcAft>
                <a:spcPts val="340"/>
              </a:spcAft>
              <a:buFont typeface="Arial"/>
              <a:buChar char="•"/>
            </a:pPr>
            <a:r>
              <a:rPr lang="en-IN" sz="1400" dirty="0" b="1">
                <a:latin typeface="Times New Roman" panose="02020603050405020304" pitchFamily="18" charset="0"/>
                <a:cs typeface="Times New Roman" panose="02020603050405020304" pitchFamily="18" charset="0"/>
              </a:rPr>
              <a:t>No wearable periorbital system: </a:t>
            </a:r>
            <a:r>
              <a:rPr lang="en-IN" sz="1400" dirty="0">
                <a:latin typeface="Times New Roman" panose="02020603050405020304" pitchFamily="18" charset="0"/>
                <a:cs typeface="Times New Roman" panose="02020603050405020304" pitchFamily="18" charset="0"/>
              </a:rPr>
              <a:t>searches across Google Patents, IPAIRS and PubMed (2020 to 2025) returned ZERO wearable devices combining periorbital pupillography, thermography, bioimpedance and PPG.</a:t>
            </a:r>
          </a:p>
          <a:p>
            <a:pPr marL="285750" lvl="0" indent="-285750">
              <a:spcAft>
                <a:spcPts val="340"/>
              </a:spcAft>
              <a:buFont typeface="Arial"/>
              <a:buChar char="•"/>
            </a:pPr>
            <a:r>
              <a:rPr lang="en-IN" sz="1400" dirty="0" b="1">
                <a:latin typeface="Times New Roman" panose="02020603050405020304" pitchFamily="18" charset="0"/>
                <a:cs typeface="Times New Roman" panose="02020603050405020304" pitchFamily="18" charset="0"/>
              </a:rPr>
              <a:t>Periodic vs. continuous: </a:t>
            </a:r>
            <a:r>
              <a:rPr lang="en-IN" sz="1400" dirty="0">
                <a:latin typeface="Times New Roman" panose="02020603050405020304" pitchFamily="18" charset="0"/>
                <a:cs typeface="Times New Roman" panose="02020603050405020304" pitchFamily="18" charset="0"/>
              </a:rPr>
              <a:t>annual screening misses between-visit progression; nearly 50% of patients skip annual exams.</a:t>
            </a:r>
          </a:p>
          <a:p>
            <a:pPr marL="285750" lvl="0" indent="-285750">
              <a:spcAft>
                <a:spcPts val="250"/>
              </a:spcAft>
              <a:buFont typeface="Arial"/>
              <a:buChar char="•"/>
            </a:pPr>
            <a:r>
              <a:rPr lang="en-IN" sz="1400" dirty="0" b="1">
                <a:latin typeface="Times New Roman" panose="02020603050405020304" pitchFamily="18" charset="0"/>
                <a:cs typeface="Times New Roman" panose="02020603050405020304" pitchFamily="18" charset="0"/>
              </a:rPr>
              <a:t>Closest prior art (Ko et al. 2014, Taiwan pupillometer): </a:t>
            </a:r>
            <a:r>
              <a:rPr lang="en-IN" sz="1400" dirty="0">
                <a:latin typeface="Times New Roman" panose="02020603050405020304" pitchFamily="18" charset="0"/>
                <a:cs typeface="Times New Roman" panose="02020603050405020304" pitchFamily="18" charset="0"/>
              </a:rPr>
              <a:t>single modality, monocular, clinic-based, no retinopathy assessment, no CGM, and never commercialised.</a:t>
            </a:r>
          </a:p>
        </p:txBody>
      </p:sp>
      <p:sp>
        <p:nvSpPr>
          <p:cNvPr id="4" name="object 2">
            <a:extLst>
              <a:ext uri="{FF2B5EF4-FFF2-40B4-BE49-F238E27FC236}">
                <a16:creationId xmlns:a16="http://schemas.microsoft.com/office/drawing/2014/main" id="{2E07AC55-BA5E-4123-39E6-B79860C6C9EE}"/>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Research Gap</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A2430A72-466B-CBDE-2F02-635BA91A98AF}"/>
              </a:ext>
            </a:extLst>
          </p:cNvPr>
          <p:cNvSpPr>
            <a:spLocks noGrp="1"/>
          </p:cNvSpPr>
          <p:nvPr>
            <p:ph type="dt" sz="half" idx="10"/>
          </p:nvPr>
        </p:nvSpPr>
        <p:spPr/>
        <p:txBody>
          <a:bodyPr/>
          <a:lstStyle/>
          <a:p>
            <a:r>
              <a:rPr lang="en-IN"/>
              <a:t>22-08-2026</a:t>
            </a:r>
            <a:endParaRPr lang="en-IN"/>
          </a:p>
        </p:txBody>
      </p:sp>
      <p:sp>
        <p:nvSpPr>
          <p:cNvPr id="5" name="Footer Placeholder 4">
            <a:extLst>
              <a:ext uri="{FF2B5EF4-FFF2-40B4-BE49-F238E27FC236}">
                <a16:creationId xmlns:a16="http://schemas.microsoft.com/office/drawing/2014/main" id="{1711DDA3-7A7C-1F61-1795-3A01ED678FA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D94E3226-1DB1-3A4D-CE37-4A2AD48EF1F1}"/>
              </a:ext>
            </a:extLst>
          </p:cNvPr>
          <p:cNvSpPr>
            <a:spLocks noGrp="1"/>
          </p:cNvSpPr>
          <p:nvPr>
            <p:ph type="sldNum" sz="quarter" idx="12"/>
          </p:nvPr>
        </p:nvSpPr>
        <p:spPr/>
        <p:txBody>
          <a:bodyPr/>
          <a:lstStyle/>
          <a:p>
            <a:fld id="{65201FD4-9D8D-4491-815B-63C7BF4F0034}" type="slidenum">
              <a:rPr lang="en-IN" smtClean="0"/>
              <a:t>6</a:t>
            </a:fld>
            <a:endParaRPr lang="en-IN"/>
          </a:p>
        </p:txBody>
      </p:sp>
    </p:spTree>
    <p:extLst>
      <p:ext uri="{BB962C8B-B14F-4D97-AF65-F5344CB8AC3E}">
        <p14:creationId xmlns:p14="http://schemas.microsoft.com/office/powerpoint/2010/main" val="2623102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50AAC-0156-D6F5-7153-C791999940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83ADE1-559A-2DC2-A801-6A915E106C60}"/>
              </a:ext>
            </a:extLst>
          </p:cNvPr>
          <p:cNvSpPr>
            <a:spLocks noGrp="1"/>
          </p:cNvSpPr>
          <p:nvPr>
            <p:ph idx="1"/>
          </p:nvPr>
        </p:nvSpPr>
        <p:spPr>
          <a:xfrm>
            <a:off x="838200" y="1750000"/>
            <a:ext cx="10515600" cy="2350000"/>
          </a:xfrm>
        </p:spPr>
        <p:txBody>
          <a:bodyPr>
            <a:normAutofit fontScale="85000" lnSpcReduction="10000"/>
          </a:bodyPr>
          <a:lstStyle/>
          <a:p>
            <a:pPr marL="285750" lvl="0" indent="-285750">
              <a:spcAft>
                <a:spcPts val="300"/>
              </a:spcAft>
              <a:buFont typeface="Arial"/>
              <a:buChar char="•"/>
            </a:pPr>
            <a:r>
              <a:rPr lang="en-IN" sz="1300" dirty="0">
                <a:latin typeface="Times New Roman" panose="02020603050405020304" pitchFamily="18" charset="0"/>
                <a:cs typeface="Times New Roman" panose="02020603050405020304" pitchFamily="18" charset="0"/>
              </a:rPr>
              <a:t>Design a spectacle-frame multi-sensor hardware system integrating IR pupillography, thermography, bioimpedance and PPG on a single edge-AI platform (ESP32-S3).</a:t>
            </a:r>
          </a:p>
          <a:p>
            <a:pPr marL="285750" lvl="0" indent="-285750">
              <a:spcAft>
                <a:spcPts val="300"/>
              </a:spcAft>
              <a:buFont typeface="Arial"/>
              <a:buChar char="•"/>
            </a:pPr>
            <a:r>
              <a:rPr lang="en-IN" sz="1300" dirty="0">
                <a:latin typeface="Times New Roman" panose="02020603050405020304" pitchFamily="18" charset="0"/>
                <a:cs typeface="Times New Roman" panose="02020603050405020304" pitchFamily="18" charset="0"/>
              </a:rPr>
              <a:t>Validate each sensor modality against clinical ground truth on diabetic vs. control cohorts, establishing statistical separation (target p &lt; 0.05).</a:t>
            </a:r>
          </a:p>
          <a:p>
            <a:pPr marL="285750" lvl="0" indent="-285750">
              <a:spcAft>
                <a:spcPts val="300"/>
              </a:spcAft>
              <a:buFont typeface="Arial"/>
              <a:buChar char="•"/>
            </a:pPr>
            <a:r>
              <a:rPr lang="en-IN" sz="1300" dirty="0">
                <a:latin typeface="Times New Roman" panose="02020603050405020304" pitchFamily="18" charset="0"/>
                <a:cs typeface="Times New Roman" panose="02020603050405020304" pitchFamily="18" charset="0"/>
              </a:rPr>
              <a:t>Develop the Neuro-Retinal Deterioration Index (NRDI) fusion algorithm correlating sensor data with CGM-derived glycemic variability.</a:t>
            </a:r>
          </a:p>
          <a:p>
            <a:pPr marL="285750" lvl="0" indent="-285750">
              <a:spcAft>
                <a:spcPts val="250"/>
              </a:spcAft>
              <a:buFont typeface="Arial"/>
              <a:buChar char="•"/>
            </a:pPr>
            <a:r>
              <a:rPr lang="en-IN" sz="1300" dirty="0">
                <a:latin typeface="Times New Roman" panose="02020603050405020304" pitchFamily="18" charset="0"/>
                <a:cs typeface="Times New Roman" panose="02020603050405020304" pitchFamily="18" charset="0"/>
              </a:rPr>
              <a:t>Demonstrate early-detection capability and file an Indian patent for the novel apparatus before publication.</a:t>
            </a:r>
          </a:p>
        </p:txBody>
      </p:sp>
      <p:sp>
        <p:nvSpPr>
          <p:cNvPr id="4" name="object 2">
            <a:extLst>
              <a:ext uri="{FF2B5EF4-FFF2-40B4-BE49-F238E27FC236}">
                <a16:creationId xmlns:a16="http://schemas.microsoft.com/office/drawing/2014/main" id="{22BADD22-870A-4D8F-B788-CCCD5C223F9A}"/>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Objectives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1BE4F0EB-E8F1-14D8-E22A-38E83F9BFA94}"/>
              </a:ext>
            </a:extLst>
          </p:cNvPr>
          <p:cNvSpPr>
            <a:spLocks noGrp="1"/>
          </p:cNvSpPr>
          <p:nvPr>
            <p:ph type="dt" sz="half" idx="10"/>
          </p:nvPr>
        </p:nvSpPr>
        <p:spPr/>
        <p:txBody>
          <a:bodyPr/>
          <a:lstStyle/>
          <a:p>
            <a:r>
              <a:rPr lang="en-IN">
                <a:latin typeface="Times New Roman" panose="02020603050405020304" pitchFamily="18" charset="0"/>
                <a:cs typeface="Times New Roman" panose="02020603050405020304" pitchFamily="18" charset="0"/>
              </a:rPr>
              <a:t>22-08-2026</a:t>
            </a:r>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76D8B93F-BA73-08B5-E0DD-D434FA25B92B}"/>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E6BABF72-E9F9-626A-63CD-EA20C0714ABC}"/>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7</a:t>
            </a:fld>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2632EBB-2D05-8D00-7F98-43CBAFAF06ED}"/>
              </a:ext>
            </a:extLst>
          </p:cNvPr>
          <p:cNvSpPr txBox="1"/>
          <p:nvPr/>
        </p:nvSpPr>
        <p:spPr>
          <a:xfrm>
            <a:off x="460248" y="4250000"/>
            <a:ext cx="11270000" cy="850000"/>
          </a:xfrm>
          <a:prstGeom prst="rect">
            <a:avLst/>
          </a:prstGeom>
          <a:noFill/>
        </p:spPr>
        <p:txBody>
          <a:bodyPr wrap="square" rtlCol="0">
            <a:normAutofit/>
          </a:bodyPr>
          <a:lstStyle/>
          <a:p>
            <a:pPr>
              <a:spcAft>
                <a:spcPts val="300"/>
              </a:spcAft>
              <a:buNone/>
            </a:pPr>
            <a:r>
              <a:rPr lang="en-IN" sz="1300" dirty="0" b="1">
                <a:latin typeface="Times New Roman" panose="02020603050405020304" pitchFamily="18" charset="0"/>
                <a:cs typeface="Times New Roman" panose="02020603050405020304" pitchFamily="18" charset="0"/>
              </a:rPr>
              <a:t>Identified SDGs: </a:t>
            </a:r>
            <a:r>
              <a:rPr lang="en-IN" sz="1300" dirty="0">
                <a:latin typeface="Times New Roman" panose="02020603050405020304" pitchFamily="18" charset="0"/>
                <a:cs typeface="Times New Roman" panose="02020603050405020304" pitchFamily="18" charset="0"/>
              </a:rPr>
              <a:t>SDG 3 (Good Health &amp; Well-being), SDG 9 (Industry, Innovation &amp; Infrastructure), SDG 10 (Reduced Inequalities)</a:t>
            </a:r>
          </a:p>
          <a:p>
            <a:pPr>
              <a:spcAft>
                <a:spcPts val="300"/>
              </a:spcAft>
              <a:buNone/>
            </a:pPr>
            <a:r>
              <a:rPr lang="en-IN" sz="1300" dirty="0" b="1">
                <a:latin typeface="Times New Roman" panose="02020603050405020304" pitchFamily="18" charset="0"/>
                <a:cs typeface="Times New Roman" panose="02020603050405020304" pitchFamily="18" charset="0"/>
              </a:rPr>
              <a:t>Current TRL: </a:t>
            </a:r>
            <a:r>
              <a:rPr lang="en-IN" sz="1300" dirty="0">
                <a:latin typeface="Times New Roman" panose="02020603050405020304" pitchFamily="18" charset="0"/>
                <a:cs typeface="Times New Roman" panose="02020603050405020304" pitchFamily="18" charset="0"/>
              </a:rPr>
              <a:t>2 to 4</a:t>
            </a:r>
          </a:p>
          <a:p>
            <a:pPr>
              <a:spcAft>
                <a:spcPts val="300"/>
              </a:spcAft>
              <a:buNone/>
            </a:pPr>
            <a:r>
              <a:rPr lang="en-IN" sz="1300" dirty="0" b="1">
                <a:latin typeface="Times New Roman" panose="02020603050405020304" pitchFamily="18" charset="0"/>
                <a:cs typeface="Times New Roman" panose="02020603050405020304" pitchFamily="18" charset="0"/>
              </a:rPr>
              <a:t>Target Outcomes: </a:t>
            </a:r>
            <a:r>
              <a:rPr lang="en-IN" sz="1300" dirty="0">
                <a:latin typeface="Times New Roman" panose="02020603050405020304" pitchFamily="18" charset="0"/>
                <a:cs typeface="Times New Roman" panose="02020603050405020304" pitchFamily="18" charset="0"/>
              </a:rPr>
              <a:t>Indian Patent (Form 2) + 2 Scopus-indexed papers (Hardware + Dataset/AI) + Product prototype</a:t>
            </a:r>
          </a:p>
        </p:txBody>
      </p:sp>
      <p:pic>
        <p:nvPicPr>
          <p:cNvPr id="8" name="Picture 7" descr="3 The UN 17 Sustainable Development Goals (SDGs), implemented by all... | Download Scientific Diagram">
            <a:extLst>
              <a:ext uri="{FF2B5EF4-FFF2-40B4-BE49-F238E27FC236}" cx="2350000" cy="1360000">
                <a16:creationId xmlns:a16="http://schemas.microsoft.com/office/drawing/2014/main" id="{36180A9B-AA72-E2D6-8362-4CDF7058D84A}"/>
              </a:ext>
            </a:extLst>
          </p:cNvPr>
          <p:cNvPicPr>
            <a:picLocks noChangeAspect="1"/>
          </p:cNvPicPr>
          <p:nvPr/>
        </p:nvPicPr>
        <p:blipFill>
          <a:blip r:embed="rId2"/>
          <a:stretch>
            <a:fillRect/>
          </a:stretch>
        </p:blipFill>
        <p:spPr>
          <a:xfrm>
            <a:off x="760000" y="5280000"/>
            <a:ext cx="1968651" cy="1578077"/>
          </a:xfrm>
          <a:prstGeom prst="rect">
            <a:avLst/>
          </a:prstGeom>
        </p:spPr>
      </p:pic>
      <p:pic>
        <p:nvPicPr>
          <p:cNvPr id="9" name="Picture 8" descr="What are Technology Readiness Levels (TRL)? - TWI">
            <a:extLst>
              <a:ext uri="{FF2B5EF4-FFF2-40B4-BE49-F238E27FC236}" cx="2480000" cy="1270000">
                <a16:creationId xmlns:a16="http://schemas.microsoft.com/office/drawing/2014/main" id="{D1491C9C-07B3-89C3-5FA0-72C9F44F30AC}"/>
              </a:ext>
            </a:extLst>
          </p:cNvPr>
          <p:cNvPicPr>
            <a:picLocks noChangeAspect="1"/>
          </p:cNvPicPr>
          <p:nvPr/>
        </p:nvPicPr>
        <p:blipFill>
          <a:blip r:embed="rId3"/>
          <a:stretch>
            <a:fillRect/>
          </a:stretch>
        </p:blipFill>
        <p:spPr>
          <a:xfrm>
            <a:off x="8950000" y="5280000"/>
            <a:ext cx="2447027" cy="2232651"/>
          </a:xfrm>
          <a:prstGeom prst="rect">
            <a:avLst/>
          </a:prstGeom>
        </p:spPr>
      </p:pic>
    </p:spTree>
    <p:extLst>
      <p:ext uri="{BB962C8B-B14F-4D97-AF65-F5344CB8AC3E}">
        <p14:creationId xmlns:p14="http://schemas.microsoft.com/office/powerpoint/2010/main" val="2335962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49C0F-2490-21B4-8186-6F75540ACED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FBB131-7217-3694-F593-4021591CC64F}"/>
              </a:ext>
            </a:extLst>
          </p:cNvPr>
          <p:cNvSpPr>
            <a:spLocks noGrp="1"/>
          </p:cNvSpPr>
          <p:nvPr>
            <p:ph idx="1"/>
          </p:nvPr>
        </p:nvSpPr>
        <p:spPr>
          <a:xfrm>
            <a:off x="500000" y="1500000"/>
            <a:ext cx="4700000" cy="4600000"/>
          </a:xfrm>
        </p:spPr>
        <p:txBody>
          <a:bodyPr>
            <a:normAutofit fontScale="85000" lnSpcReduction="10000"/>
          </a:bodyPr>
          <a:lstStyle/>
          <a:p>
            <a:pPr marL="285750" lvl="0" indent="-285750">
              <a:spcAft>
                <a:spcPts val="260"/>
              </a:spcAft>
              <a:buFont typeface="Arial"/>
              <a:buChar char="•"/>
            </a:pPr>
            <a:r>
              <a:rPr lang="en-IN" sz="1250" dirty="0" b="1">
                <a:latin typeface="Times New Roman" panose="02020603050405020304" pitchFamily="18" charset="0"/>
                <a:cs typeface="Times New Roman" panose="02020603050405020304" pitchFamily="18" charset="0"/>
              </a:rPr>
              <a:t>Four-layer architecture. </a:t>
            </a:r>
            <a:r>
              <a:rPr lang="en-IN" sz="1250" dirty="0">
                <a:latin typeface="Times New Roman" panose="02020603050405020304" pitchFamily="18" charset="0"/>
                <a:cs typeface="Times New Roman" panose="02020603050405020304" pitchFamily="18" charset="0"/>
              </a:rPr>
              <a:t>Sensing layer captures four modalities across the spectacle frame; acquisition layer performs bus arbitration, analog conditioning and camera framing; edge processing layer runs preprocessing, feature extraction and fusion on the ESP32-S3; output layer handles risk stratification, haptic alerting and cloud sync.</a:t>
            </a:r>
          </a:p>
          <a:p>
            <a:pPr marL="285750" lvl="0" indent="-285750">
              <a:spcAft>
                <a:spcPts val="260"/>
              </a:spcAft>
              <a:buFont typeface="Arial"/>
              <a:buChar char="•"/>
            </a:pPr>
            <a:r>
              <a:rPr lang="en-IN" sz="1250" dirty="0" b="1">
                <a:latin typeface="Times New Roman" panose="02020603050405020304" pitchFamily="18" charset="0"/>
                <a:cs typeface="Times New Roman" panose="02020603050405020304" pitchFamily="18" charset="0"/>
              </a:rPr>
              <a:t>Bus design. </a:t>
            </a:r>
            <a:r>
              <a:rPr lang="en-IN" sz="1250" dirty="0">
                <a:latin typeface="Times New Roman" panose="02020603050405020304" pitchFamily="18" charset="0"/>
                <a:cs typeface="Times New Roman" panose="02020603050405020304" pitchFamily="18" charset="0"/>
              </a:rPr>
              <a:t>Two thermopiles and two PPG sensors share an I2C bus through a TCA9548A multiplexer, since each device family presents a fixed address that would otherwise collide. Bioimpedance electrodes route through an AD8606 buffer before the AD5933 analyser.</a:t>
            </a:r>
          </a:p>
          <a:p>
            <a:pPr marL="285750" lvl="0" indent="-285750">
              <a:spcAft>
                <a:spcPts val="200"/>
              </a:spcAft>
              <a:buFont typeface="Arial"/>
              <a:buChar char="•"/>
            </a:pPr>
            <a:r>
              <a:rPr lang="en-IN" sz="1250" dirty="0" b="1">
                <a:latin typeface="Times New Roman" panose="02020603050405020304" pitchFamily="18" charset="0"/>
                <a:cs typeface="Times New Roman" panose="02020603050405020304" pitchFamily="18" charset="0"/>
              </a:rPr>
              <a:t>Cross-validation logic. </a:t>
            </a:r>
            <a:r>
              <a:rPr lang="en-IN" sz="1250" dirty="0">
                <a:latin typeface="Times New Roman" panose="02020603050405020304" pitchFamily="18" charset="0"/>
                <a:cs typeface="Times New Roman" panose="02020603050405020304" pitchFamily="18" charset="0"/>
              </a:rPr>
              <a:t>The fusion stage evaluates concordance across the four independent signal sources, which suppresses false positives that single-modality devices cannot distinguish.</a:t>
            </a:r>
          </a:p>
        </p:txBody>
      </p:sp>
      <p:sp>
        <p:nvSpPr>
          <p:cNvPr id="4" name="object 2">
            <a:extLst>
              <a:ext uri="{FF2B5EF4-FFF2-40B4-BE49-F238E27FC236}">
                <a16:creationId xmlns:a16="http://schemas.microsoft.com/office/drawing/2014/main" id="{5DE9EA00-8D77-8DC9-1AE3-8B6FD1AF6BC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Framework/Architecture/Block Diagram</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3B40592E-46EE-B4F2-7D01-D3568C2F685A}"/>
              </a:ext>
            </a:extLst>
          </p:cNvPr>
          <p:cNvSpPr>
            <a:spLocks noGrp="1"/>
          </p:cNvSpPr>
          <p:nvPr>
            <p:ph type="dt" sz="half" idx="10"/>
          </p:nvPr>
        </p:nvSpPr>
        <p:spPr/>
        <p:txBody>
          <a:bodyPr/>
          <a:lstStyle/>
          <a:p>
            <a:r>
              <a:rPr lang="en-IN">
                <a:latin typeface="Times New Roman" panose="02020603050405020304" pitchFamily="18" charset="0"/>
                <a:cs typeface="Times New Roman" panose="02020603050405020304" pitchFamily="18" charset="0"/>
              </a:rPr>
              <a:t>22-08-2026</a:t>
            </a:r>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5BCDC439-5940-84EE-247A-E3018795A431}"/>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A6CB23C8-7091-8CFB-BF2C-3A19CCA810FF}"/>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8</a:t>
            </a:fld>
            <a:endParaRPr lang="en-IN" dirty="0">
              <a:latin typeface="Times New Roman" panose="02020603050405020304" pitchFamily="18" charset="0"/>
              <a:cs typeface="Times New Roman" panose="02020603050405020304" pitchFamily="18" charset="0"/>
            </a:endParaRPr>
          </a:p>
        </p:txBody>
      </p:sp>
      <p:pic xmlns:p="http://schemas.openxmlformats.org/presentationml/2006/main" xmlns:a="http://schemas.openxmlformats.org/drawingml/2006/main" xmlns:r="http://schemas.openxmlformats.org/officeDocument/2006/relationships">
        <p:nvPicPr>
          <p:cNvPr id="61" name="ArchitectureDiagram"/>
          <p:cNvPicPr>
            <a:picLocks noChangeAspect="1"/>
          </p:cNvPicPr>
          <p:nvPr/>
        </p:nvPicPr>
        <p:blipFill>
          <a:blip r:embed="rId51"/>
          <a:stretch>
            <a:fillRect/>
          </a:stretch>
        </p:blipFill>
        <p:spPr>
          <a:xfrm>
            <a:off x="5500000" y="1600000"/>
            <a:ext cx="6100000" cy="4357142"/>
          </a:xfrm>
          <a:prstGeom prst="rect">
            <a:avLst/>
          </a:prstGeom>
        </p:spPr>
      </p:pic>
    </p:spTree>
    <p:extLst>
      <p:ext uri="{BB962C8B-B14F-4D97-AF65-F5344CB8AC3E}">
        <p14:creationId xmlns:p14="http://schemas.microsoft.com/office/powerpoint/2010/main" val="63813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95AF1-B807-AC15-9C1A-B86677AF63D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F324FF-B70A-2FC0-8FD0-C802E31DDBD0}"/>
              </a:ext>
            </a:extLst>
          </p:cNvPr>
          <p:cNvSpPr>
            <a:spLocks noGrp="1"/>
          </p:cNvSpPr>
          <p:nvPr>
            <p:ph idx="1"/>
          </p:nvPr>
        </p:nvSpPr>
        <p:spPr/>
        <p:txBody>
          <a:bodyPr>
            <a:normAutofit fontScale="85000" lnSpcReduction="10000"/>
          </a:bodyPr>
          <a:lstStyle/>
          <a:p>
            <a:pPr marL="285750" lvl="0" indent="-285750">
              <a:spcAft>
                <a:spcPts val="230"/>
              </a:spcAft>
              <a:buFont typeface="Arial"/>
              <a:buChar char="•"/>
            </a:pPr>
            <a:r>
              <a:rPr lang="en-IN" sz="1250" dirty="0" b="1">
                <a:latin typeface="Times New Roman" panose="02020603050405020304" pitchFamily="18" charset="0"/>
                <a:cs typeface="Times New Roman" panose="02020603050405020304" pitchFamily="18" charset="0"/>
              </a:rPr>
              <a:t>Multi-modal acquisition: </a:t>
            </a:r>
            <a:r>
              <a:rPr lang="en-IN" sz="1250" dirty="0">
                <a:latin typeface="Times New Roman" panose="02020603050405020304" pitchFamily="18" charset="0"/>
                <a:cs typeface="Times New Roman" panose="02020603050405020304" pitchFamily="18" charset="0"/>
              </a:rPr>
              <a:t>sample pupillary video at 30 fps, periorbital temperature at 0.02 degree C resolution, tissue impedance across a 1 kHz to 100 kHz sweep, and PPG waveforms at 100 Hz.</a:t>
            </a:r>
          </a:p>
          <a:p>
            <a:pPr marL="285750" lvl="0" indent="-285750">
              <a:spcAft>
                <a:spcPts val="230"/>
              </a:spcAft>
              <a:buFont typeface="Arial"/>
              <a:buChar char="•"/>
            </a:pPr>
            <a:r>
              <a:rPr lang="en-IN" sz="1250" dirty="0" b="1">
                <a:latin typeface="Times New Roman" panose="02020603050405020304" pitchFamily="18" charset="0"/>
                <a:cs typeface="Times New Roman" panose="02020603050405020304" pitchFamily="18" charset="0"/>
              </a:rPr>
              <a:t>Bilateral measurement: </a:t>
            </a:r>
            <a:r>
              <a:rPr lang="en-IN" sz="1250" dirty="0">
                <a:latin typeface="Times New Roman" panose="02020603050405020304" pitchFamily="18" charset="0"/>
                <a:cs typeface="Times New Roman" panose="02020603050405020304" pitchFamily="18" charset="0"/>
              </a:rPr>
              <a:t>acquire from both left and right periorbital regions to compute inter-ocular asymmetry.</a:t>
            </a:r>
          </a:p>
          <a:p>
            <a:pPr marL="285750" lvl="0" indent="-285750">
              <a:spcAft>
                <a:spcPts val="230"/>
              </a:spcAft>
              <a:buFont typeface="Arial"/>
              <a:buChar char="•"/>
            </a:pPr>
            <a:r>
              <a:rPr lang="en-IN" sz="1250" dirty="0" b="1">
                <a:latin typeface="Times New Roman" panose="02020603050405020304" pitchFamily="18" charset="0"/>
                <a:cs typeface="Times New Roman" panose="02020603050405020304" pitchFamily="18" charset="0"/>
              </a:rPr>
              <a:t>Signal preprocessing: </a:t>
            </a:r>
            <a:r>
              <a:rPr lang="en-IN" sz="1250" dirty="0">
                <a:latin typeface="Times New Roman" panose="02020603050405020304" pitchFamily="18" charset="0"/>
                <a:cs typeface="Times New Roman" panose="02020603050405020304" pitchFamily="18" charset="0"/>
              </a:rPr>
              <a:t>remove baseline drift, power-line interference and motion artefacts prior to feature extraction.</a:t>
            </a:r>
          </a:p>
          <a:p>
            <a:pPr marL="285750" lvl="0" indent="-285750">
              <a:spcAft>
                <a:spcPts val="230"/>
              </a:spcAft>
              <a:buFont typeface="Arial"/>
              <a:buChar char="•"/>
            </a:pPr>
            <a:r>
              <a:rPr lang="en-IN" sz="1250" dirty="0" b="1">
                <a:latin typeface="Times New Roman" panose="02020603050405020304" pitchFamily="18" charset="0"/>
                <a:cs typeface="Times New Roman" panose="02020603050405020304" pitchFamily="18" charset="0"/>
              </a:rPr>
              <a:t>Feature extraction: </a:t>
            </a:r>
            <a:r>
              <a:rPr lang="en-IN" sz="1250" dirty="0">
                <a:latin typeface="Times New Roman" panose="02020603050405020304" pitchFamily="18" charset="0"/>
                <a:cs typeface="Times New Roman" panose="02020603050405020304" pitchFamily="18" charset="0"/>
              </a:rPr>
              <a:t>derive pupillary dynamics, thermal differentials, impedance phase angle and HRV indices.</a:t>
            </a:r>
          </a:p>
          <a:p>
            <a:pPr marL="285750" lvl="0" indent="-285750">
              <a:spcAft>
                <a:spcPts val="230"/>
              </a:spcAft>
              <a:buFont typeface="Arial"/>
              <a:buChar char="•"/>
            </a:pPr>
            <a:r>
              <a:rPr lang="en-IN" sz="1250" dirty="0" b="1">
                <a:latin typeface="Times New Roman" panose="02020603050405020304" pitchFamily="18" charset="0"/>
                <a:cs typeface="Times New Roman" panose="02020603050405020304" pitchFamily="18" charset="0"/>
              </a:rPr>
              <a:t>Glycemic ingestion: </a:t>
            </a:r>
            <a:r>
              <a:rPr lang="en-IN" sz="1250" dirty="0">
                <a:latin typeface="Times New Roman" panose="02020603050405020304" pitchFamily="18" charset="0"/>
                <a:cs typeface="Times New Roman" panose="02020603050405020304" pitchFamily="18" charset="0"/>
              </a:rPr>
              <a:t>pair with a CGM over BLE 5.0 and retrieve time-in-range and variability metrics.</a:t>
            </a:r>
          </a:p>
          <a:p>
            <a:pPr marL="285750" lvl="0" indent="-285750">
              <a:spcAft>
                <a:spcPts val="230"/>
              </a:spcAft>
              <a:buFont typeface="Arial"/>
              <a:buChar char="•"/>
            </a:pPr>
            <a:r>
              <a:rPr lang="en-IN" sz="1250" dirty="0" b="1">
                <a:latin typeface="Times New Roman" panose="02020603050405020304" pitchFamily="18" charset="0"/>
                <a:cs typeface="Times New Roman" panose="02020603050405020304" pitchFamily="18" charset="0"/>
              </a:rPr>
              <a:t>Index computation: </a:t>
            </a:r>
            <a:r>
              <a:rPr lang="en-IN" sz="1250" dirty="0">
                <a:latin typeface="Times New Roman" panose="02020603050405020304" pitchFamily="18" charset="0"/>
                <a:cs typeface="Times New Roman" panose="02020603050405020304" pitchFamily="18" charset="0"/>
              </a:rPr>
              <a:t>fuse features with glycemic context to compute NRDI on a 0 to 100 scale within 90 seconds.</a:t>
            </a:r>
          </a:p>
          <a:p>
            <a:pPr marL="285750" lvl="0" indent="-285750">
              <a:spcAft>
                <a:spcPts val="180"/>
              </a:spcAft>
              <a:buFont typeface="Arial"/>
              <a:buChar char="•"/>
            </a:pPr>
            <a:r>
              <a:rPr lang="en-IN" sz="1250" dirty="0" b="1">
                <a:latin typeface="Times New Roman" panose="02020603050405020304" pitchFamily="18" charset="0"/>
                <a:cs typeface="Times New Roman" panose="02020603050405020304" pitchFamily="18" charset="0"/>
              </a:rPr>
              <a:t>Risk stratification and alerting: </a:t>
            </a:r>
            <a:r>
              <a:rPr lang="en-IN" sz="1250" dirty="0">
                <a:latin typeface="Times New Roman" panose="02020603050405020304" pitchFamily="18" charset="0"/>
                <a:cs typeface="Times New Roman" panose="02020603050405020304" pitchFamily="18" charset="0"/>
              </a:rPr>
              <a:t>classify into three levels and activate haptic notification on threshold breach.</a:t>
            </a:r>
          </a:p>
        </p:txBody>
      </p:sp>
      <p:sp>
        <p:nvSpPr>
          <p:cNvPr id="4" name="object 2">
            <a:extLst>
              <a:ext uri="{FF2B5EF4-FFF2-40B4-BE49-F238E27FC236}">
                <a16:creationId xmlns:a16="http://schemas.microsoft.com/office/drawing/2014/main" id="{0C9A0194-5820-F292-3A94-449C000E51A7}"/>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Functional Requirements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D4F25267-3005-EC45-A624-B78484DFA4EC}"/>
              </a:ext>
            </a:extLst>
          </p:cNvPr>
          <p:cNvSpPr>
            <a:spLocks noGrp="1"/>
          </p:cNvSpPr>
          <p:nvPr>
            <p:ph type="dt" sz="half" idx="10"/>
          </p:nvPr>
        </p:nvSpPr>
        <p:spPr/>
        <p:txBody>
          <a:bodyPr/>
          <a:lstStyle/>
          <a:p>
            <a:r>
              <a:rPr lang="en-IN">
                <a:latin typeface="Times New Roman" panose="02020603050405020304" pitchFamily="18" charset="0"/>
                <a:cs typeface="Times New Roman" panose="02020603050405020304" pitchFamily="18" charset="0"/>
              </a:rPr>
              <a:t>22-08-2026</a:t>
            </a:r>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610022FF-AD0C-E15E-5F17-B2827B5546B1}"/>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BD8D6198-8B2C-26FB-53D2-A5B87C95A4FB}"/>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9</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1299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2F2ED-50F9-3DFA-95BB-1A1059C5D89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3F2560-A5FE-A724-8F39-E7E901E8FADC}"/>
              </a:ext>
            </a:extLst>
          </p:cNvPr>
          <p:cNvSpPr>
            <a:spLocks noGrp="1"/>
          </p:cNvSpPr>
          <p:nvPr>
            <p:ph idx="1"/>
          </p:nvPr>
        </p:nvSpPr>
        <p:spPr/>
        <p:txBody>
          <a:bodyPr>
            <a:normAutofit fontScale="85000" lnSpcReduction="10000"/>
          </a:bodyPr>
          <a:lstStyle/>
          <a:p>
            <a:pPr marL="285750" lvl="0" indent="-285750">
              <a:spcAft>
                <a:spcPts val="250"/>
              </a:spcAft>
              <a:buFont typeface="Arial"/>
              <a:buChar char="•"/>
            </a:pPr>
            <a:r>
              <a:rPr lang="en-IN" sz="1250" dirty="0" b="1">
                <a:latin typeface="Times New Roman" panose="02020603050405020304" pitchFamily="18" charset="0"/>
                <a:cs typeface="Times New Roman" panose="02020603050405020304" pitchFamily="18" charset="0"/>
              </a:rPr>
              <a:t>Module 1: Periorbital Sensing. </a:t>
            </a:r>
            <a:r>
              <a:rPr lang="en-IN" sz="1250" dirty="0">
                <a:latin typeface="Times New Roman" panose="02020603050405020304" pitchFamily="18" charset="0"/>
                <a:cs typeface="Times New Roman" panose="02020603050405020304" pitchFamily="18" charset="0"/>
              </a:rPr>
              <a:t>Ten sensing units across four modalities mounted on the spectacle frame (2 IR LED + camera pairs, 2 thermopiles, 4 electrodes, 2 PPG sensors).</a:t>
            </a:r>
          </a:p>
          <a:p>
            <a:pPr marL="285750" lvl="0" indent="-285750">
              <a:spcAft>
                <a:spcPts val="250"/>
              </a:spcAft>
              <a:buFont typeface="Arial"/>
              <a:buChar char="•"/>
            </a:pPr>
            <a:r>
              <a:rPr lang="en-IN" sz="1250" dirty="0" b="1">
                <a:latin typeface="Times New Roman" panose="02020603050405020304" pitchFamily="18" charset="0"/>
                <a:cs typeface="Times New Roman" panose="02020603050405020304" pitchFamily="18" charset="0"/>
              </a:rPr>
              <a:t>Module 2: Signal Acquisition. </a:t>
            </a:r>
            <a:r>
              <a:rPr lang="en-IN" sz="1250" dirty="0">
                <a:latin typeface="Times New Roman" panose="02020603050405020304" pitchFamily="18" charset="0"/>
                <a:cs typeface="Times New Roman" panose="02020603050405020304" pitchFamily="18" charset="0"/>
              </a:rPr>
              <a:t>TCA9548A I2C multiplexer, AD8606 analog front-end and the ESP32-S3 parallel camera interface.</a:t>
            </a:r>
          </a:p>
          <a:p>
            <a:pPr marL="285750" lvl="0" indent="-285750">
              <a:spcAft>
                <a:spcPts val="250"/>
              </a:spcAft>
              <a:buFont typeface="Arial"/>
              <a:buChar char="•"/>
            </a:pPr>
            <a:r>
              <a:rPr lang="en-IN" sz="1250" dirty="0" b="1">
                <a:latin typeface="Times New Roman" panose="02020603050405020304" pitchFamily="18" charset="0"/>
                <a:cs typeface="Times New Roman" panose="02020603050405020304" pitchFamily="18" charset="0"/>
              </a:rPr>
              <a:t>Module 3: Preprocessing. </a:t>
            </a:r>
            <a:r>
              <a:rPr lang="en-IN" sz="1250" dirty="0">
                <a:latin typeface="Times New Roman" panose="02020603050405020304" pitchFamily="18" charset="0"/>
                <a:cs typeface="Times New Roman" panose="02020603050405020304" pitchFamily="18" charset="0"/>
              </a:rPr>
              <a:t>Denoising, baseline drift correction and motion artefact rejection on the embedded target.</a:t>
            </a:r>
          </a:p>
          <a:p>
            <a:pPr marL="285750" lvl="0" indent="-285750">
              <a:spcAft>
                <a:spcPts val="250"/>
              </a:spcAft>
              <a:buFont typeface="Arial"/>
              <a:buChar char="•"/>
            </a:pPr>
            <a:r>
              <a:rPr lang="en-IN" sz="1250" dirty="0" b="1">
                <a:latin typeface="Times New Roman" panose="02020603050405020304" pitchFamily="18" charset="0"/>
                <a:cs typeface="Times New Roman" panose="02020603050405020304" pitchFamily="18" charset="0"/>
              </a:rPr>
              <a:t>Module 4: Feature Extraction. </a:t>
            </a:r>
            <a:r>
              <a:rPr lang="en-IN" sz="1250" dirty="0">
                <a:latin typeface="Times New Roman" panose="02020603050405020304" pitchFamily="18" charset="0"/>
                <a:cs typeface="Times New Roman" panose="02020603050405020304" pitchFamily="18" charset="0"/>
              </a:rPr>
              <a:t>Pupil metrics, bilateral thermal delta, impedance phase angle and HRV indices (SDNN, RMSSD).</a:t>
            </a:r>
          </a:p>
          <a:p>
            <a:pPr marL="285750" lvl="0" indent="-285750">
              <a:spcAft>
                <a:spcPts val="250"/>
              </a:spcAft>
              <a:buFont typeface="Arial"/>
              <a:buChar char="•"/>
            </a:pPr>
            <a:r>
              <a:rPr lang="en-IN" sz="1250" dirty="0" b="1">
                <a:latin typeface="Times New Roman" panose="02020603050405020304" pitchFamily="18" charset="0"/>
                <a:cs typeface="Times New Roman" panose="02020603050405020304" pitchFamily="18" charset="0"/>
              </a:rPr>
              <a:t>Module 5: NRDI Fusion Engine. </a:t>
            </a:r>
            <a:r>
              <a:rPr lang="en-IN" sz="1250" dirty="0">
                <a:latin typeface="Times New Roman" panose="02020603050405020304" pitchFamily="18" charset="0"/>
                <a:cs typeface="Times New Roman" panose="02020603050405020304" pitchFamily="18" charset="0"/>
              </a:rPr>
              <a:t>Temporal convolutional network performing cross-modality validation against a personalised baseline.</a:t>
            </a:r>
          </a:p>
          <a:p>
            <a:pPr marL="285750" lvl="0" indent="-285750">
              <a:spcAft>
                <a:spcPts val="180"/>
              </a:spcAft>
              <a:buFont typeface="Arial"/>
              <a:buChar char="•"/>
            </a:pPr>
            <a:r>
              <a:rPr lang="en-IN" sz="1250" dirty="0" b="1">
                <a:latin typeface="Times New Roman" panose="02020603050405020304" pitchFamily="18" charset="0"/>
                <a:cs typeface="Times New Roman" panose="02020603050405020304" pitchFamily="18" charset="0"/>
              </a:rPr>
              <a:t>Module 6: Output and Sync. </a:t>
            </a:r>
            <a:r>
              <a:rPr lang="en-IN" sz="1250" dirty="0">
                <a:latin typeface="Times New Roman" panose="02020603050405020304" pitchFamily="18" charset="0"/>
                <a:cs typeface="Times New Roman" panose="02020603050405020304" pitchFamily="18" charset="0"/>
              </a:rPr>
              <a:t>Three-level risk classification, LRA haptic alerting and Wi-Fi upload to a clinician dashboard.</a:t>
            </a:r>
          </a:p>
        </p:txBody>
      </p:sp>
      <p:sp>
        <p:nvSpPr>
          <p:cNvPr id="4" name="object 2">
            <a:extLst>
              <a:ext uri="{FF2B5EF4-FFF2-40B4-BE49-F238E27FC236}">
                <a16:creationId xmlns:a16="http://schemas.microsoft.com/office/drawing/2014/main" id="{B27DA514-48FC-4BF4-8205-DE21D456C5FF}"/>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Modules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D74A04E0-6631-130F-A154-C85D978EA39B}"/>
              </a:ext>
            </a:extLst>
          </p:cNvPr>
          <p:cNvSpPr>
            <a:spLocks noGrp="1"/>
          </p:cNvSpPr>
          <p:nvPr>
            <p:ph type="dt" sz="half" idx="10"/>
          </p:nvPr>
        </p:nvSpPr>
        <p:spPr/>
        <p:txBody>
          <a:bodyPr/>
          <a:lstStyle/>
          <a:p>
            <a:r>
              <a:rPr lang="en-IN">
                <a:latin typeface="Times New Roman" panose="02020603050405020304" pitchFamily="18" charset="0"/>
                <a:cs typeface="Times New Roman" panose="02020603050405020304" pitchFamily="18" charset="0"/>
              </a:rPr>
              <a:t>22-08-2026</a:t>
            </a:r>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39615995-EDEB-C984-B852-1229C23B1A05}"/>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067F5109-389C-3E37-E553-A559233EFD96}"/>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10</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9870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556E8-0003-02C5-D37D-A5CC4CE44D5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B67973-736B-B05D-D378-DA7CBE3EBDAD}"/>
              </a:ext>
            </a:extLst>
          </p:cNvPr>
          <p:cNvSpPr>
            <a:spLocks noGrp="1"/>
          </p:cNvSpPr>
          <p:nvPr>
            <p:ph idx="1"/>
          </p:nvPr>
        </p:nvSpPr>
        <p:spPr/>
        <p:txBody>
          <a:bodyPr>
            <a:normAutofit fontScale="85000" lnSpcReduction="10000"/>
          </a:bodyPr>
          <a:lstStyle/>
          <a:p>
            <a:pPr marL="285750" lvl="0" indent="-285750">
              <a:spcAft>
                <a:spcPts val="250"/>
              </a:spcAft>
              <a:buFont typeface="Arial"/>
              <a:buChar char="•"/>
            </a:pPr>
            <a:r>
              <a:rPr lang="en-IN" sz="1250" dirty="0" b="1">
                <a:latin typeface="Times New Roman" panose="02020603050405020304" pitchFamily="18" charset="0"/>
                <a:cs typeface="Times New Roman" panose="02020603050405020304" pitchFamily="18" charset="0"/>
              </a:rPr>
              <a:t>Experimental setup. </a:t>
            </a:r>
            <a:r>
              <a:rPr lang="en-IN" sz="1250" dirty="0">
                <a:latin typeface="Times New Roman" panose="02020603050405020304" pitchFamily="18" charset="0"/>
                <a:cs typeface="Times New Roman" panose="02020603050405020304" pitchFamily="18" charset="0"/>
              </a:rPr>
              <a:t>Since hardware fabrication is in progress, validation cohorts were constructed from published clinical parameter distributions (means, standard deviations and reported p-values) drawn from PubMed-indexed studies for each of the four modalities.</a:t>
            </a:r>
          </a:p>
          <a:p>
            <a:pPr marL="285750" lvl="0" indent="-285750">
              <a:spcAft>
                <a:spcPts val="250"/>
              </a:spcAft>
              <a:buFont typeface="Arial"/>
              <a:buChar char="•"/>
            </a:pPr>
            <a:r>
              <a:rPr lang="en-IN" sz="1250" dirty="0" b="1">
                <a:latin typeface="Times New Roman" panose="02020603050405020304" pitchFamily="18" charset="0"/>
                <a:cs typeface="Times New Roman" panose="02020603050405020304" pitchFamily="18" charset="0"/>
              </a:rPr>
              <a:t>Evaluation protocol. </a:t>
            </a:r>
            <a:r>
              <a:rPr lang="en-IN" sz="1250" dirty="0">
                <a:latin typeface="Times New Roman" panose="02020603050405020304" pitchFamily="18" charset="0"/>
                <a:cs typeface="Times New Roman" panose="02020603050405020304" pitchFamily="18" charset="0"/>
              </a:rPr>
              <a:t>Each modality is first evaluated as a single-sensor baseline classifier, then the four are combined through the NRDI fusion stage. Discrimination between diabetic and control cohorts is measured by AUROC and two-sample significance testing.</a:t>
            </a:r>
          </a:p>
          <a:p>
            <a:pPr marL="285750" lvl="0" indent="-285750">
              <a:spcAft>
                <a:spcPts val="250"/>
              </a:spcAft>
              <a:buFont typeface="Arial"/>
              <a:buChar char="•"/>
            </a:pPr>
            <a:r>
              <a:rPr lang="en-IN" sz="1250" dirty="0" b="1">
                <a:latin typeface="Times New Roman" panose="02020603050405020304" pitchFamily="18" charset="0"/>
                <a:cs typeface="Times New Roman" panose="02020603050405020304" pitchFamily="18" charset="0"/>
              </a:rPr>
              <a:t>Literature-derived effect sizes. </a:t>
            </a:r>
            <a:r>
              <a:rPr lang="en-IN" sz="1250" dirty="0">
                <a:latin typeface="Times New Roman" panose="02020603050405020304" pitchFamily="18" charset="0"/>
                <a:cs typeface="Times New Roman" panose="02020603050405020304" pitchFamily="18" charset="0"/>
              </a:rPr>
              <a:t>Thermography 0.61 degree C separation (p &lt; 0.001); pupillography detects 77.8% vs 56% by standard tests; bioimpedance phase angle 5.45 vs 6.69 degrees (p &lt; 0.001); low SDNN carries HR 1.32 for vision-threatening DR.</a:t>
            </a:r>
          </a:p>
          <a:p>
            <a:pPr marL="285750" lvl="0" indent="-285750">
              <a:spcAft>
                <a:spcPts val="180"/>
              </a:spcAft>
              <a:buFont typeface="Arial"/>
              <a:buChar char="•"/>
            </a:pPr>
            <a:r>
              <a:rPr lang="en-IN" sz="1250" dirty="0" b="1">
                <a:latin typeface="Times New Roman" panose="02020603050405020304" pitchFamily="18" charset="0"/>
                <a:cs typeface="Times New Roman" panose="02020603050405020304" pitchFamily="18" charset="0"/>
              </a:rPr>
              <a:t>Status and next step. </a:t>
            </a:r>
            <a:r>
              <a:rPr lang="en-IN" sz="1250" dirty="0">
                <a:latin typeface="Times New Roman" panose="02020603050405020304" pitchFamily="18" charset="0"/>
                <a:cs typeface="Times New Roman" panose="02020603050405020304" pitchFamily="18" charset="0"/>
              </a:rPr>
              <a:t>Fusion model development is underway; the target outcome is demonstrating that the composite NRDI achieves higher discrimination than any single constituent modality at p &lt; 0.05, followed by pilot data collection on the assembled prototype.</a:t>
            </a:r>
          </a:p>
        </p:txBody>
      </p:sp>
      <p:sp>
        <p:nvSpPr>
          <p:cNvPr id="4" name="object 2">
            <a:extLst>
              <a:ext uri="{FF2B5EF4-FFF2-40B4-BE49-F238E27FC236}">
                <a16:creationId xmlns:a16="http://schemas.microsoft.com/office/drawing/2014/main" id="{E386D544-A80A-B599-44C7-B40BA6ECC63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Experiments and Results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5D376B32-FA12-4961-0DBF-EE57A7705BF9}"/>
              </a:ext>
            </a:extLst>
          </p:cNvPr>
          <p:cNvSpPr>
            <a:spLocks noGrp="1"/>
          </p:cNvSpPr>
          <p:nvPr>
            <p:ph type="dt" sz="half" idx="10"/>
          </p:nvPr>
        </p:nvSpPr>
        <p:spPr/>
        <p:txBody>
          <a:bodyPr/>
          <a:lstStyle/>
          <a:p>
            <a:r>
              <a:rPr lang="en-IN">
                <a:latin typeface="Times New Roman" panose="02020603050405020304" pitchFamily="18" charset="0"/>
                <a:cs typeface="Times New Roman" panose="02020603050405020304" pitchFamily="18" charset="0"/>
              </a:rPr>
              <a:t>22-08-2026</a:t>
            </a:r>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B0EF323-27AB-5372-4287-A24CA541146A}"/>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76AAAC16-1233-230F-5D3B-645E6B2832A4}"/>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11</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6188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49A39-F362-DB35-B5DF-7E322AB9CA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4F33DD-84F0-A7F9-A1DC-A4DEA1A7D846}"/>
              </a:ext>
            </a:extLst>
          </p:cNvPr>
          <p:cNvSpPr>
            <a:spLocks noGrp="1"/>
          </p:cNvSpPr>
          <p:nvPr>
            <p:ph idx="1"/>
          </p:nvPr>
        </p:nvSpPr>
        <p:spPr/>
        <p:txBody>
          <a:bodyPr>
            <a:normAutofit fontScale="85000" lnSpcReduction="10000"/>
          </a:bodyPr>
          <a:lstStyle/>
          <a:p>
            <a:pPr marL="285750" lvl="0" indent="-285750">
              <a:spcAft>
                <a:spcPts val="300"/>
              </a:spcAft>
              <a:buFont typeface="Arial"/>
              <a:buChar char="•"/>
            </a:pPr>
            <a:r>
              <a:rPr lang="en-IN" sz="1350" dirty="0">
                <a:latin typeface="Times New Roman" panose="02020603050405020304" pitchFamily="18" charset="0"/>
                <a:cs typeface="Times New Roman" panose="02020603050405020304" pitchFamily="18" charset="0"/>
              </a:rPr>
              <a:t>A wearable periorbital multi-sensor system has been designed that monitors indicators of diabetic retinopathy and neuropathy simultaneously from a single spectacle-frame platform, addressing a gap that no existing patent, product or funded project currently fills.</a:t>
            </a:r>
          </a:p>
          <a:p>
            <a:pPr marL="285750" lvl="0" indent="-285750">
              <a:spcAft>
                <a:spcPts val="300"/>
              </a:spcAft>
              <a:buFont typeface="Arial"/>
              <a:buChar char="•"/>
            </a:pPr>
            <a:r>
              <a:rPr lang="en-IN" sz="1350" dirty="0">
                <a:latin typeface="Times New Roman" panose="02020603050405020304" pitchFamily="18" charset="0"/>
                <a:cs typeface="Times New Roman" panose="02020603050405020304" pitchFamily="18" charset="0"/>
              </a:rPr>
              <a:t>The periorbital region is established as the only external site where the relevant autonomic nerves, retinal blood supply, venous drainage and systemic vasculature converge, which justifies the sensor placement geometry.</a:t>
            </a:r>
          </a:p>
          <a:p>
            <a:pPr marL="285750" lvl="0" indent="-285750">
              <a:spcAft>
                <a:spcPts val="300"/>
              </a:spcAft>
              <a:buFont typeface="Arial"/>
              <a:buChar char="•"/>
            </a:pPr>
            <a:r>
              <a:rPr lang="en-IN" sz="1350" dirty="0">
                <a:latin typeface="Times New Roman" panose="02020603050405020304" pitchFamily="18" charset="0"/>
                <a:cs typeface="Times New Roman" panose="02020603050405020304" pitchFamily="18" charset="0"/>
              </a:rPr>
              <a:t>Cross-validation across four independent modalities suppresses environmental false positives that single-sensor devices cannot resolve, forming the core inventive contribution expressed as the NRDI.</a:t>
            </a:r>
          </a:p>
          <a:p>
            <a:pPr marL="285750" lvl="0" indent="-285750">
              <a:spcAft>
                <a:spcPts val="200"/>
              </a:spcAft>
              <a:buFont typeface="Arial"/>
              <a:buChar char="•"/>
            </a:pPr>
            <a:r>
              <a:rPr lang="en-IN" sz="1350" dirty="0" b="1">
                <a:latin typeface="Times New Roman" panose="02020603050405020304" pitchFamily="18" charset="0"/>
                <a:cs typeface="Times New Roman" panose="02020603050405020304" pitchFamily="18" charset="0"/>
              </a:rPr>
              <a:t>Future work: </a:t>
            </a:r>
            <a:r>
              <a:rPr lang="en-IN" sz="1350" dirty="0">
                <a:latin typeface="Times New Roman" panose="02020603050405020304" pitchFamily="18" charset="0"/>
                <a:cs typeface="Times New Roman" panose="02020603050405020304" pitchFamily="18" charset="0"/>
              </a:rPr>
              <a:t>complete PCB fabrication and prototype assembly, obtain institutional ethics clearance, collect pilot data from diabetic and control cohorts, and file the Indian patent before publication.</a:t>
            </a:r>
          </a:p>
        </p:txBody>
      </p:sp>
      <p:sp>
        <p:nvSpPr>
          <p:cNvPr id="4" name="object 2">
            <a:extLst>
              <a:ext uri="{FF2B5EF4-FFF2-40B4-BE49-F238E27FC236}">
                <a16:creationId xmlns:a16="http://schemas.microsoft.com/office/drawing/2014/main" id="{3754A46F-4AC3-5AF1-0B78-C0B5112BD14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Conclusion</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851BAA61-633E-E24B-7DEE-4B2A2B1FA9A4}"/>
              </a:ext>
            </a:extLst>
          </p:cNvPr>
          <p:cNvSpPr>
            <a:spLocks noGrp="1"/>
          </p:cNvSpPr>
          <p:nvPr>
            <p:ph type="dt" sz="half" idx="10"/>
          </p:nvPr>
        </p:nvSpPr>
        <p:spPr/>
        <p:txBody>
          <a:bodyPr/>
          <a:lstStyle/>
          <a:p>
            <a:r>
              <a:rPr lang="en-IN">
                <a:latin typeface="Times New Roman" panose="02020603050405020304" pitchFamily="18" charset="0"/>
                <a:cs typeface="Times New Roman" panose="02020603050405020304" pitchFamily="18" charset="0"/>
              </a:rPr>
              <a:t>22-08-2026</a:t>
            </a:r>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AB93C553-2D0C-5A0A-39DC-21C43BD88BF0}"/>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6BF7A7E9-45BE-62F4-D3A6-F19DC6ABEDE6}"/>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12</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7498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0E1A0-FA4A-8258-6E10-9F00EDC0BC8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7CFC0C65-61CC-E657-43F7-99C8E5362448}"/>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References</a:t>
            </a:r>
            <a:endParaRPr sz="3000" b="1" dirty="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CC4F09CD-956A-B8B3-1183-9C28C80DDB9A}"/>
              </a:ext>
            </a:extLst>
          </p:cNvPr>
          <p:cNvSpPr>
            <a:spLocks noGrp="1" noChangeArrowheads="1"/>
          </p:cNvSpPr>
          <p:nvPr>
            <p:ph idx="1"/>
          </p:nvPr>
        </p:nvSpPr>
        <p:spPr bwMode="auto">
          <a:xfrm>
            <a:off x="545592" y="1442399"/>
            <a:ext cx="105156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rmAutofit fontScale="85000" lnSpcReduction="10000"/>
          </a:bodyPr>
          <a:lstStyle/>
          <a:p>
            <a:pPr marL="0" lvl="0" indent="0">
              <a:spcAft>
                <a:spcPts val="280"/>
              </a:spcAft>
              <a:buNone/>
            </a:pPr>
            <a:r>
              <a:rPr lang="en-IN" sz="1250" dirty="0">
                <a:latin typeface="Times New Roman" panose="02020603050405020304" pitchFamily="18" charset="0"/>
                <a:cs typeface="Times New Roman" panose="02020603050405020304" pitchFamily="18" charset="0"/>
              </a:rPr>
              <a:t>[1] R. Chandrasekar et al., "Assessment of ocular surface temperature in diabetic retinopathy," Exp. Eye Res., vol. 211, 2021. (PMID: 34464609)</a:t>
            </a:r>
          </a:p>
          <a:p>
            <a:pPr marL="0" lvl="0" indent="0">
              <a:spcAft>
                <a:spcPts val="280"/>
              </a:spcAft>
              <a:buNone/>
            </a:pPr>
            <a:r>
              <a:rPr lang="en-IN" sz="1250" dirty="0">
                <a:latin typeface="Times New Roman" panose="02020603050405020304" pitchFamily="18" charset="0"/>
                <a:cs typeface="Times New Roman" panose="02020603050405020304" pitchFamily="18" charset="0"/>
              </a:rPr>
              <a:t>[2] M. Dutsch et al., "Pupillography refines the diagnosis of diabetic autonomic neuropathy," J. Neurol. Sci., vol. 222, pp. 75-81, 2004. (PMID: 15240199)</a:t>
            </a:r>
          </a:p>
          <a:p>
            <a:pPr marL="0" lvl="0" indent="0">
              <a:spcAft>
                <a:spcPts val="280"/>
              </a:spcAft>
              <a:buNone/>
            </a:pPr>
            <a:r>
              <a:rPr lang="en-IN" sz="1250" dirty="0">
                <a:latin typeface="Times New Roman" panose="02020603050405020304" pitchFamily="18" charset="0"/>
                <a:cs typeface="Times New Roman" panose="02020603050405020304" pitchFamily="18" charset="0"/>
              </a:rPr>
              <a:t>[3] S. Hwang et al., "Bioimpedance phase angle and diabetic macular edema," J. Clin. Med., vol. 12, no. 20, 2023. (PMC10607216)</a:t>
            </a:r>
          </a:p>
          <a:p>
            <a:pPr marL="0" lvl="0" indent="0">
              <a:spcAft>
                <a:spcPts val="280"/>
              </a:spcAft>
              <a:buNone/>
            </a:pPr>
            <a:r>
              <a:rPr lang="en-IN" sz="1250" dirty="0">
                <a:latin typeface="Times New Roman" panose="02020603050405020304" pitchFamily="18" charset="0"/>
                <a:cs typeface="Times New Roman" panose="02020603050405020304" pitchFamily="18" charset="0"/>
              </a:rPr>
              <a:t>[4] ACCORD Study Group, "Heart rate variability and incident retinopathy in type 2 diabetes," Diabetes Care, vol. 45, 2022. (PMID: 35467041)</a:t>
            </a:r>
          </a:p>
          <a:p>
            <a:pPr marL="0" lvl="0" indent="0">
              <a:spcAft>
                <a:spcPts val="280"/>
              </a:spcAft>
              <a:buNone/>
            </a:pPr>
            <a:r>
              <a:rPr lang="en-IN" sz="1250" dirty="0">
                <a:latin typeface="Times New Roman" panose="02020603050405020304" pitchFamily="18" charset="0"/>
                <a:cs typeface="Times New Roman" panose="02020603050405020304" pitchFamily="18" charset="0"/>
              </a:rPr>
              <a:t>[5] Y. F. Ko et al., "Design of a wearable pupillometer for diabetic autonomic neuropathy," Appl. Opt., vol. 53, no. 29, pp. H27-H34, 2014.</a:t>
            </a:r>
          </a:p>
          <a:p>
            <a:pPr marL="0" lvl="0" indent="0">
              <a:spcAft>
                <a:spcPts val="280"/>
              </a:spcAft>
              <a:buNone/>
            </a:pPr>
            <a:r>
              <a:rPr lang="en-IN" sz="1250" dirty="0">
                <a:latin typeface="Times New Roman" panose="02020603050405020304" pitchFamily="18" charset="0"/>
                <a:cs typeface="Times New Roman" panose="02020603050405020304" pitchFamily="18" charset="0"/>
              </a:rPr>
              <a:t>[6] R. Raman et al., "Prevalence of diabetic retinopathy in India: SMART India study," Lancet Glob. Health, vol. 10, no. 12, pp. e1764-e1773, 2022.</a:t>
            </a:r>
          </a:p>
        </p:txBody>
      </p:sp>
      <p:sp>
        <p:nvSpPr>
          <p:cNvPr id="5" name="Date Placeholder 4">
            <a:extLst>
              <a:ext uri="{FF2B5EF4-FFF2-40B4-BE49-F238E27FC236}">
                <a16:creationId xmlns:a16="http://schemas.microsoft.com/office/drawing/2014/main" id="{B732D3DB-7149-E1E5-D5F9-4FC93A788894}"/>
              </a:ext>
            </a:extLst>
          </p:cNvPr>
          <p:cNvSpPr>
            <a:spLocks noGrp="1"/>
          </p:cNvSpPr>
          <p:nvPr>
            <p:ph type="dt" sz="half" idx="10"/>
          </p:nvPr>
        </p:nvSpPr>
        <p:spPr/>
        <p:txBody>
          <a:bodyPr/>
          <a:lstStyle/>
          <a:p>
            <a:r>
              <a:rPr lang="en-IN"/>
              <a:t>22-08-2026</a:t>
            </a:r>
            <a:endParaRPr lang="en-IN"/>
          </a:p>
        </p:txBody>
      </p:sp>
      <p:sp>
        <p:nvSpPr>
          <p:cNvPr id="6" name="Footer Placeholder 5">
            <a:extLst>
              <a:ext uri="{FF2B5EF4-FFF2-40B4-BE49-F238E27FC236}">
                <a16:creationId xmlns:a16="http://schemas.microsoft.com/office/drawing/2014/main" id="{CEBCABB1-7C63-52E3-2815-3651AE7E9F7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431EAEC-BCE3-2979-69C6-273309B9FFA7}"/>
              </a:ext>
            </a:extLst>
          </p:cNvPr>
          <p:cNvSpPr>
            <a:spLocks noGrp="1"/>
          </p:cNvSpPr>
          <p:nvPr>
            <p:ph type="sldNum" sz="quarter" idx="12"/>
          </p:nvPr>
        </p:nvSpPr>
        <p:spPr/>
        <p:txBody>
          <a:bodyPr/>
          <a:lstStyle/>
          <a:p>
            <a:fld id="{65201FD4-9D8D-4491-815B-63C7BF4F0034}" type="slidenum">
              <a:rPr lang="en-IN" smtClean="0"/>
              <a:t>13</a:t>
            </a:fld>
            <a:endParaRPr lang="en-IN"/>
          </a:p>
        </p:txBody>
      </p:sp>
    </p:spTree>
    <p:extLst>
      <p:ext uri="{BB962C8B-B14F-4D97-AF65-F5344CB8AC3E}">
        <p14:creationId xmlns:p14="http://schemas.microsoft.com/office/powerpoint/2010/main" val="35105262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273</Words>
  <Application>Microsoft Office PowerPoint</Application>
  <PresentationFormat>Widescreen</PresentationFormat>
  <Paragraphs>78</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&lt;&lt;Programme B.Tech/ M.Tech Course Code – Course Title&gt;&gt; &lt;&lt;Project Title&gt;&gt;</vt:lpstr>
      <vt:lpstr>Approval Mail From Guide</vt:lpstr>
      <vt:lpstr>Aim</vt:lpstr>
      <vt:lpstr>Abstract</vt:lpstr>
      <vt:lpstr>Literature Review</vt:lpstr>
      <vt:lpstr>Research Gap</vt:lpstr>
      <vt:lpstr>Objectives</vt:lpstr>
      <vt:lpstr>Framework/Architecture/Block Diagram</vt:lpstr>
      <vt:lpstr>Functional Requirements</vt:lpstr>
      <vt:lpstr>Modules</vt:lpstr>
      <vt:lpstr>Experiments and Results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Parthasarathy G</dc:creator>
  <cp:lastModifiedBy>Parthasarathy G</cp:lastModifiedBy>
  <cp:revision>5</cp:revision>
  <dcterms:created xsi:type="dcterms:W3CDTF">2026-07-14T06:00:41Z</dcterms:created>
  <dcterms:modified xsi:type="dcterms:W3CDTF">2026-08-22T10:32:54Z</dcterms:modified>
</cp:coreProperties>
</file>